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1" r:id="rId15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C70631A-A12D-5515-FE8F-AA0998011BE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DE246C-150C-CB82-FCA5-8AAB17CB1D3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altLang="zh-CN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</a:defRPr>
            </a:lvl1pPr>
          </a:lstStyle>
          <a:p>
            <a:pPr lvl="0"/>
            <a:fld id="{A474B8E2-D32E-42E8-BA69-7E37224D1E5F}" type="datetime1">
              <a:rPr lang="en-US" altLang="zh-CN"/>
              <a:pPr lvl="0"/>
              <a:t>12/3/2025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33DA87B-A178-6AB5-3E6F-F5396D4A4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8F3FC78-3F67-5D6A-C005-77A08109F74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780CD1-E69E-5490-D82A-2A205871AA2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  <a:ea typeface="等线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B2A62-6326-EEFF-A1AE-53C37C338B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altLang="zh-CN" sz="1200" b="0" i="0" u="none" strike="noStrike" kern="1200" cap="none" spc="0" baseline="0">
                <a:solidFill>
                  <a:srgbClr val="000000"/>
                </a:solidFill>
                <a:uFillTx/>
                <a:latin typeface="等线"/>
              </a:defRPr>
            </a:lvl1pPr>
          </a:lstStyle>
          <a:p>
            <a:pPr lvl="0"/>
            <a:fld id="{3EDDF8BE-965B-4B1D-8A4E-B279D7A76DC5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6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zh-CN" sz="1200" b="0" i="0" u="none" strike="noStrike" kern="1200" cap="none" spc="0" baseline="0">
        <a:solidFill>
          <a:srgbClr val="000000"/>
        </a:solidFill>
        <a:uFillTx/>
        <a:latin typeface="等线"/>
        <a:ea typeface="等线" pitchFamily="2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zh-CN" sz="1200" b="0" i="0" u="none" strike="noStrike" kern="1200" cap="none" spc="0" baseline="0">
        <a:solidFill>
          <a:srgbClr val="000000"/>
        </a:solidFill>
        <a:uFillTx/>
        <a:latin typeface="等线"/>
        <a:ea typeface="等线" pitchFamily="2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zh-CN" sz="1200" b="0" i="0" u="none" strike="noStrike" kern="1200" cap="none" spc="0" baseline="0">
        <a:solidFill>
          <a:srgbClr val="000000"/>
        </a:solidFill>
        <a:uFillTx/>
        <a:latin typeface="等线"/>
        <a:ea typeface="等线" pitchFamily="2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zh-CN" sz="1200" b="0" i="0" u="none" strike="noStrike" kern="1200" cap="none" spc="0" baseline="0">
        <a:solidFill>
          <a:srgbClr val="000000"/>
        </a:solidFill>
        <a:uFillTx/>
        <a:latin typeface="等线"/>
        <a:ea typeface="等线" pitchFamily="2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zh-CN" sz="1200" b="0" i="0" u="none" strike="noStrike" kern="1200" cap="none" spc="0" baseline="0">
        <a:solidFill>
          <a:srgbClr val="000000"/>
        </a:solidFill>
        <a:uFillTx/>
        <a:latin typeface="等线"/>
        <a:ea typeface="等线" pitchFamily="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24AA80-535B-B94F-24F3-934E5F721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2BE0ED-8F8E-5C46-9D42-D278F193DD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533396" lvl="1" indent="-266703">
              <a:lnSpc>
                <a:spcPts val="3460"/>
              </a:lnSpc>
              <a:buSzPct val="100000"/>
              <a:buFont typeface="Arial"/>
              <a:buChar char="•"/>
            </a:pPr>
            <a:r>
              <a:rPr lang="en-US" b="1">
                <a:solidFill>
                  <a:srgbClr val="1E396E"/>
                </a:solidFill>
              </a:rPr>
              <a:t>Training data size has a significant impact on model performance.</a:t>
            </a:r>
            <a:endParaRPr lang="en-US"/>
          </a:p>
          <a:p>
            <a:pPr lvl="0">
              <a:lnSpc>
                <a:spcPts val="3460"/>
              </a:lnSpc>
            </a:pPr>
            <a:r>
              <a:rPr lang="en-US">
                <a:solidFill>
                  <a:srgbClr val="1E396E"/>
                </a:solidFill>
              </a:rPr>
              <a:t>Models fine-tuned on a dataset of tens of thousands of samples consistently outperformed those trained on the original 6k-sample dataset, demonstrating that larger datasets enable the model to learn more robust representations and generalize better.</a:t>
            </a:r>
            <a:endParaRPr lang="en-US"/>
          </a:p>
          <a:p>
            <a:pPr marL="533396" lvl="1" indent="-266703">
              <a:lnSpc>
                <a:spcPts val="3460"/>
              </a:lnSpc>
              <a:buSzPct val="100000"/>
              <a:buFont typeface="Arial"/>
              <a:buChar char="•"/>
            </a:pPr>
            <a:r>
              <a:rPr lang="en-US" b="1">
                <a:solidFill>
                  <a:srgbClr val="1E396E"/>
                </a:solidFill>
              </a:rPr>
              <a:t>The data augmentation experiments did not yield noticeable improvements.</a:t>
            </a:r>
            <a:endParaRPr lang="en-US"/>
          </a:p>
          <a:p>
            <a:pPr lvl="0">
              <a:lnSpc>
                <a:spcPts val="3460"/>
              </a:lnSpc>
            </a:pPr>
            <a:r>
              <a:rPr lang="en-US">
                <a:solidFill>
                  <a:srgbClr val="1E396E"/>
                </a:solidFill>
              </a:rPr>
              <a:t>This is likely because the augmented dataset was already on the order of 10⁴–10⁵, providing sufficient coverage of linguistic patterns. Combined with the fact that the baseline performance was already strong, the additional synthetic data produced only marginal or negligible gains.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F4C888-7973-5A7F-FFCB-CCA51EF53D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E292690-ED26-46C4-A1B1-17E4F374417F}" type="slidenum">
              <a:t>8</a:t>
            </a:fld>
            <a:endParaRPr lang="zh-CN" altLang="en-US">
              <a:ea typeface="等线" pitchFamily="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F1EA-ECDE-6777-D58E-C4643C59B68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8152F-6C30-4A78-485B-736A3E1036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A80FF-188D-CB6D-FF63-895BE175113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04E2D6-2A7E-4B31-A83A-1881615972D7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F0ECD-5C6C-4788-8478-676A478E23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583A8-C299-7B02-6EE9-8BFE004471A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278CB4-34F5-4DEB-88BF-CAA3370400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8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044D-8556-FC7D-0669-67FCC632041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292DA-6744-18DF-0897-409282A6BE2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F9328-BEE4-2300-D255-F1698FAC29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935A4D-40EC-4920-8D24-BB472E3CD96C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BCD8E-13A6-F3DD-9337-56BAE7180DA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BBA51-75D0-633E-9780-D3BD9FE745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73D0A8-E466-4250-BE1C-F45683F144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5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28A1-F8C7-E045-B104-56DE8CD1F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48D7E-0244-FF74-7B20-A987E15B0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09257-BFF6-A6EE-2461-4DF1C29B24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2B843A-C154-47D1-8A51-8EA07E45DDD0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C9F09-0239-3B3F-2E00-A083FE63E0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678E8-8F04-F098-76F4-12765C945C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65913A-93BF-45CB-9275-6CC705936C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0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97A0-7BCD-1ECA-BE88-CC3DC78CA0F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4B88E-B2DC-8E79-73FF-D5AA816CA1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6BF13-8BC0-6FA4-BA79-E4E7440611E5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9AACB-EA84-19A6-E7CC-ADC6D500D6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C6116F-83F7-43B2-9F92-DCE7702A3CF6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D8834-C7F9-FDB5-4BEB-153A86B151C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76762-4C31-92AD-B3BF-B94FD3C00A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D34008-6293-44FE-8DC1-A8640A1917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7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AD86-6891-1701-9A97-5EA3DAE42C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7AD82-3E42-A158-DC06-0FDE6C7AA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8DB2E-72D3-489B-8192-940E10EC38B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01C39-7603-D785-792B-A3A9C4AF72E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8F2C0-3CBC-5CD6-3360-6BEFF6F9734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A09E9-943D-DDEE-D2AD-EBDD823A01B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BDF005-C2BE-47B1-8A6F-AEE9C761ED32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830BF-DBBE-9B06-3B88-9496E61D032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D08F2-0958-46DF-B0A0-0D2D76DF05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8BD860-4929-4E13-9BE2-11EC497DB50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9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6B1F-2A70-7DC2-0630-989C50E827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F3BB0-BB3B-6227-BD7A-61787D4213C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86A19A-004F-4047-AF05-3DD2AB4B0DF2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A4124-3367-1DED-02A7-CABD9D6443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C1B18-4DAA-60B5-9ECC-1929F33829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443F5F-FC44-4A5D-BB6A-BDF95C4395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6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038F8-ED85-C5F2-E9B6-29C45F2E61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7C8DA8-FE5D-45F7-9BC1-0928386E4EFA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D5ACE-8C1B-8784-FF25-A910B47FBA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5FA6-2328-831B-6EEC-EC897F479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269ECF-970B-47FF-B756-6E874D8A1FA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231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9BBC-BCC6-B2AA-8694-C76110BAA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35481-0DE4-DD91-55BA-E32DDA9033E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A1B19-3959-6468-4036-0CCD01F828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3714F-8432-3307-4D6D-0FB50CFEF4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E5AA9A-7ED8-478B-8530-D90388DB79FA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619D5-B65D-46E7-0E3E-DA11336140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ACC9D-F698-39E8-A97A-C01660BAA9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BED279-32A7-423C-A346-F387B525D5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3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C813-E23D-718B-A553-4CFE4DE30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E29A0-0774-5DE2-DD56-C3343FFBFC0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285E-5240-1E30-FB06-6A22891C77C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1967D-0291-5B75-CFE8-D0465D2193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96F0E7-B340-4B28-8163-59C0EEFE1FF8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98DB8-B0AF-0070-67CA-B291AE59F2E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A028F-4805-D21F-DC04-BB92FA6E1F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994EC1-C12F-4A7A-B845-7892C0DC53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6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E0AA-464E-A838-BAAE-278E3CDB8D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7E7C6-1CDF-24DC-E550-5B4607D72E3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CDCD2-C346-54B1-7829-184CCCFCAAF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1C75FE-06EA-40A2-AB78-C609F2003D91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83F9C-A1DF-312A-C31E-1E1E04D3FA2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55CCF-A3B0-6882-1CFD-224D22A9B4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6DE5927-3BBC-47A1-A232-F2B1E18F69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2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18722-00EC-4F39-E7B4-0D224BFB0204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F4013-0ABA-39E5-788D-D3EEF221E2B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274640"/>
            <a:ext cx="6019796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794A0-F007-40F8-34F9-40CB2012A4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CA3353-1D16-4107-A506-B3EE6A8DDDB8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167F-5A86-8790-1281-BA498417D2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05B87-69C9-B3A0-6CCB-137072FE25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652FBB-834A-42CC-B175-E2CF2572B9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3F94F-2C7D-6866-4FFE-6EA7DA964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83B7F-2EF5-67E1-0864-73991982B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525E2-773B-360A-3718-4F9C7203C0F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8112D0D7-E902-4162-8664-E7A23DBCBB8D}" type="datetime1">
              <a:rPr lang="en-US"/>
              <a:pPr lvl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17752-F7E6-D851-6C4C-297351507BF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23510-5B49-9E4C-F564-8454C8CCAA9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A571B1E0-EAA6-42AD-923E-C9759C0EECF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sv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sv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20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8889F76-3A5A-F84B-FD39-F5C57FE8D572}"/>
              </a:ext>
            </a:extLst>
          </p:cNvPr>
          <p:cNvSpPr txBox="1"/>
          <p:nvPr/>
        </p:nvSpPr>
        <p:spPr>
          <a:xfrm>
            <a:off x="3180456" y="3037975"/>
            <a:ext cx="11984062" cy="23440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174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965" b="1" i="1" u="none" strike="noStrike" kern="1200" cap="none" spc="0" baseline="0">
                <a:solidFill>
                  <a:srgbClr val="1E396E"/>
                </a:solidFill>
                <a:uFillTx/>
                <a:latin typeface="Open Sauce Bold Italics"/>
                <a:ea typeface="Open Sauce Bold Italics"/>
                <a:cs typeface="Open Sauce Bold Italics"/>
              </a:rPr>
              <a:t>SmartMail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61A20BA-BAAB-C901-9A25-494381ABDB67}"/>
              </a:ext>
            </a:extLst>
          </p:cNvPr>
          <p:cNvSpPr/>
          <p:nvPr/>
        </p:nvSpPr>
        <p:spPr>
          <a:xfrm>
            <a:off x="12318147" y="5382021"/>
            <a:ext cx="7711263" cy="5143499"/>
          </a:xfrm>
          <a:custGeom>
            <a:avLst/>
            <a:gdLst>
              <a:gd name="f0" fmla="val w"/>
              <a:gd name="f1" fmla="val h"/>
              <a:gd name="f2" fmla="val 0"/>
              <a:gd name="f3" fmla="val 7711263"/>
              <a:gd name="f4" fmla="val 5143500"/>
              <a:gd name="f5" fmla="*/ f0 1 7711263"/>
              <a:gd name="f6" fmla="*/ f1 1 5143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7711263"/>
              <a:gd name="f13" fmla="*/ f10 1 5143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7711263" h="5143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5DF39A5-132F-E0FE-18E5-2CCE3D77EBBF}"/>
              </a:ext>
            </a:extLst>
          </p:cNvPr>
          <p:cNvSpPr/>
          <p:nvPr/>
        </p:nvSpPr>
        <p:spPr>
          <a:xfrm>
            <a:off x="-3168935" y="-1100142"/>
            <a:ext cx="8395261" cy="6120911"/>
          </a:xfrm>
          <a:custGeom>
            <a:avLst/>
            <a:gdLst>
              <a:gd name="f0" fmla="val w"/>
              <a:gd name="f1" fmla="val h"/>
              <a:gd name="f2" fmla="val 0"/>
              <a:gd name="f3" fmla="val 8395266"/>
              <a:gd name="f4" fmla="val 6120912"/>
              <a:gd name="f5" fmla="*/ f0 1 8395266"/>
              <a:gd name="f6" fmla="*/ f1 1 612091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8395266"/>
              <a:gd name="f13" fmla="*/ f10 1 612091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8395266" h="612091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002CCBB-A69A-AADD-D8A9-73C2EDBA6773}"/>
              </a:ext>
            </a:extLst>
          </p:cNvPr>
          <p:cNvSpPr/>
          <p:nvPr/>
        </p:nvSpPr>
        <p:spPr>
          <a:xfrm>
            <a:off x="14429" y="6812691"/>
            <a:ext cx="4714875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4714875"/>
              <a:gd name="f4" fmla="val 4114800"/>
              <a:gd name="f5" fmla="*/ f0 1 4714875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714875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714875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B68DCE-0C50-399A-3694-35AFBB729458}"/>
              </a:ext>
            </a:extLst>
          </p:cNvPr>
          <p:cNvSpPr/>
          <p:nvPr/>
        </p:nvSpPr>
        <p:spPr>
          <a:xfrm>
            <a:off x="14663245" y="-1233242"/>
            <a:ext cx="5044955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044955"/>
              <a:gd name="f4" fmla="val 4114800"/>
              <a:gd name="f5" fmla="*/ f0 1 5044955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044955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044955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322DA5-14D9-B7C2-CE7D-F84A252D2E73}"/>
              </a:ext>
            </a:extLst>
          </p:cNvPr>
          <p:cNvSpPr txBox="1"/>
          <p:nvPr/>
        </p:nvSpPr>
        <p:spPr>
          <a:xfrm>
            <a:off x="3808969" y="6470532"/>
            <a:ext cx="10670069" cy="96007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783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595" b="1" i="0" u="none" strike="noStrike" kern="1200" cap="none" spc="61" baseline="0">
                <a:solidFill>
                  <a:srgbClr val="2B5098"/>
                </a:solidFill>
                <a:uFillTx/>
                <a:latin typeface="Raleway Bold"/>
                <a:ea typeface="Raleway Bold"/>
                <a:cs typeface="Raleway Bold"/>
              </a:rPr>
              <a:t>Group Project Presentation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AF94099-0165-40E6-C0D1-5DE539E5730B}"/>
              </a:ext>
            </a:extLst>
          </p:cNvPr>
          <p:cNvSpPr txBox="1"/>
          <p:nvPr/>
        </p:nvSpPr>
        <p:spPr>
          <a:xfrm>
            <a:off x="2938845" y="7675647"/>
            <a:ext cx="11724400" cy="4908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799" b="0" i="1" u="none" strike="noStrike" kern="1200" cap="none" spc="30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Ghanibhuti Gogoi.     Yuhan Chen.    Siqi Chen.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599A7C8-952C-8A56-21FA-6177D3C25AB5}"/>
              </a:ext>
            </a:extLst>
          </p:cNvPr>
          <p:cNvSpPr txBox="1"/>
          <p:nvPr/>
        </p:nvSpPr>
        <p:spPr>
          <a:xfrm>
            <a:off x="413381" y="5468450"/>
            <a:ext cx="18097722" cy="8046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695" b="1" i="0" u="none" strike="noStrike" kern="1200" cap="none" spc="51" baseline="0">
                <a:solidFill>
                  <a:srgbClr val="2B5098"/>
                </a:solidFill>
                <a:uFillTx/>
                <a:latin typeface="Raleway Bold"/>
                <a:ea typeface="Raleway Bold"/>
                <a:cs typeface="Raleway Bold"/>
              </a:rPr>
              <a:t>An integrated system for spam detection and email reply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627C3E-146F-173C-9111-3A0066427779}"/>
              </a:ext>
            </a:extLst>
          </p:cNvPr>
          <p:cNvSpPr/>
          <p:nvPr/>
        </p:nvSpPr>
        <p:spPr>
          <a:xfrm>
            <a:off x="-1578601" y="-504556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251149-1C63-E776-5A1C-E38E59C4EA89}"/>
              </a:ext>
            </a:extLst>
          </p:cNvPr>
          <p:cNvSpPr/>
          <p:nvPr/>
        </p:nvSpPr>
        <p:spPr>
          <a:xfrm>
            <a:off x="13995751" y="-141697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33D4DDF-8332-E3AC-A330-16E7042A3A0A}"/>
              </a:ext>
            </a:extLst>
          </p:cNvPr>
          <p:cNvSpPr/>
          <p:nvPr/>
        </p:nvSpPr>
        <p:spPr>
          <a:xfrm>
            <a:off x="13468417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BDD420-7B9E-D397-6ABC-E55E71EB8063}"/>
              </a:ext>
            </a:extLst>
          </p:cNvPr>
          <p:cNvSpPr/>
          <p:nvPr/>
        </p:nvSpPr>
        <p:spPr>
          <a:xfrm flipH="1">
            <a:off x="-453414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ABB05A-8D74-BCD7-F301-668BEE06FC0D}"/>
              </a:ext>
            </a:extLst>
          </p:cNvPr>
          <p:cNvSpPr/>
          <p:nvPr/>
        </p:nvSpPr>
        <p:spPr>
          <a:xfrm>
            <a:off x="4818805" y="821887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val 2442685"/>
              <a:gd name="f6" fmla="*/ f0 1 8924733"/>
              <a:gd name="f7" fmla="*/ f1 1 2442684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924733"/>
              <a:gd name="f14" fmla="*/ f11 1 2442684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B8FF3D4-4A5C-831E-1024-DFE3285CE1E6}"/>
              </a:ext>
            </a:extLst>
          </p:cNvPr>
          <p:cNvSpPr txBox="1"/>
          <p:nvPr/>
        </p:nvSpPr>
        <p:spPr>
          <a:xfrm>
            <a:off x="5717240" y="416618"/>
            <a:ext cx="6545942" cy="8857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46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 Objective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699849C-9EED-79C5-6786-A329932DA030}"/>
              </a:ext>
            </a:extLst>
          </p:cNvPr>
          <p:cNvSpPr txBox="1"/>
          <p:nvPr/>
        </p:nvSpPr>
        <p:spPr>
          <a:xfrm>
            <a:off x="3290358" y="1971309"/>
            <a:ext cx="14295501" cy="56882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862965" marR="0" lvl="1" indent="-431797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Build a pipeline for</a:t>
            </a:r>
            <a:endParaRPr lang="en-US" sz="3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1726560" marR="0" lvl="2" indent="-575313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Spam Email Detection</a:t>
            </a:r>
          </a:p>
          <a:p>
            <a:pPr marL="1726560" marR="0" lvl="2" indent="-575313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Reply Generation </a:t>
            </a:r>
            <a:r>
              <a:rPr lang="en-US" sz="3950" b="1" i="1" u="none" strike="noStrike" kern="1200" cap="none" spc="43" baseline="0">
                <a:solidFill>
                  <a:srgbClr val="1E396E"/>
                </a:solidFill>
                <a:uFillTx/>
                <a:latin typeface="Raleway Bold Italics"/>
                <a:ea typeface="Raleway Bold Italics"/>
                <a:cs typeface="Raleway Bold Italics"/>
              </a:rPr>
              <a:t>if not Spam</a:t>
            </a:r>
          </a:p>
          <a:p>
            <a:pPr marL="0" marR="0" lvl="0" indent="0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999" b="0" i="1" u="none" strike="noStrike" kern="1200" cap="none" spc="43" baseline="0">
              <a:solidFill>
                <a:srgbClr val="1E396E"/>
              </a:solidFill>
              <a:uFillTx/>
              <a:latin typeface="Raleway Italics"/>
              <a:ea typeface="Raleway Italics"/>
              <a:cs typeface="Raleway Italics"/>
            </a:endParaRPr>
          </a:p>
          <a:p>
            <a:pPr marL="862965" marR="0" lvl="1" indent="-431797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Perform experiments to compare Different Approaches</a:t>
            </a:r>
          </a:p>
          <a:p>
            <a:pPr marL="1726560" marR="0" lvl="2" indent="-575313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Data Augmentation</a:t>
            </a:r>
          </a:p>
          <a:p>
            <a:pPr marL="1726560" marR="0" lvl="2" indent="-575313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 Zero-Shot vs Few Shot</a:t>
            </a:r>
          </a:p>
          <a:p>
            <a:pPr marL="1726560" marR="0" lvl="2" indent="-575313" algn="l" defTabSz="914400" rtl="0" fontAlgn="auto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950" b="0" i="1" u="none" strike="noStrike" kern="1200" cap="none" spc="43" baseline="0">
                <a:solidFill>
                  <a:srgbClr val="1E396E"/>
                </a:solidFill>
                <a:uFillTx/>
                <a:latin typeface="Raleway Italics"/>
                <a:ea typeface="Raleway Italics"/>
                <a:cs typeface="Raleway Italics"/>
              </a:rPr>
              <a:t> LoRA vs Full Fine-Tuning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E10F4F-3CE5-2873-1A26-11F22B21DCE2}"/>
              </a:ext>
            </a:extLst>
          </p:cNvPr>
          <p:cNvSpPr/>
          <p:nvPr/>
        </p:nvSpPr>
        <p:spPr>
          <a:xfrm>
            <a:off x="-1578601" y="-504556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D4D299-FCEB-074D-9BF3-935A893F7C08}"/>
              </a:ext>
            </a:extLst>
          </p:cNvPr>
          <p:cNvSpPr/>
          <p:nvPr/>
        </p:nvSpPr>
        <p:spPr>
          <a:xfrm>
            <a:off x="13995751" y="-141697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FA95966-0A48-D28F-FDB1-4584AA9E300A}"/>
              </a:ext>
            </a:extLst>
          </p:cNvPr>
          <p:cNvSpPr/>
          <p:nvPr/>
        </p:nvSpPr>
        <p:spPr>
          <a:xfrm>
            <a:off x="13468417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1B5CA93-C558-0299-A03E-EE3F3298172B}"/>
              </a:ext>
            </a:extLst>
          </p:cNvPr>
          <p:cNvSpPr/>
          <p:nvPr/>
        </p:nvSpPr>
        <p:spPr>
          <a:xfrm flipH="1">
            <a:off x="-453414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CE8A3C5-59B4-D833-6D3E-05D22CA4AC8F}"/>
              </a:ext>
            </a:extLst>
          </p:cNvPr>
          <p:cNvSpPr/>
          <p:nvPr/>
        </p:nvSpPr>
        <p:spPr>
          <a:xfrm>
            <a:off x="4818805" y="821887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val 2442685"/>
              <a:gd name="f6" fmla="*/ f0 1 8924733"/>
              <a:gd name="f7" fmla="*/ f1 1 2442684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924733"/>
              <a:gd name="f14" fmla="*/ f11 1 2442684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D798863-C002-E24B-76C8-FC8A3D9B011B}"/>
              </a:ext>
            </a:extLst>
          </p:cNvPr>
          <p:cNvSpPr/>
          <p:nvPr/>
        </p:nvSpPr>
        <p:spPr>
          <a:xfrm>
            <a:off x="3171998" y="2427393"/>
            <a:ext cx="12529767" cy="5432212"/>
          </a:xfrm>
          <a:custGeom>
            <a:avLst/>
            <a:gdLst>
              <a:gd name="f0" fmla="val w"/>
              <a:gd name="f1" fmla="val h"/>
              <a:gd name="f2" fmla="val 0"/>
              <a:gd name="f3" fmla="val 12529770"/>
              <a:gd name="f4" fmla="val 5432210"/>
              <a:gd name="f5" fmla="*/ f0 1 12529770"/>
              <a:gd name="f6" fmla="*/ f1 1 543221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529770"/>
              <a:gd name="f13" fmla="*/ f10 1 543221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529770" h="543221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0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3729D8-A136-1EFD-8720-250828FE390C}"/>
              </a:ext>
            </a:extLst>
          </p:cNvPr>
          <p:cNvSpPr txBox="1"/>
          <p:nvPr/>
        </p:nvSpPr>
        <p:spPr>
          <a:xfrm>
            <a:off x="5871033" y="416618"/>
            <a:ext cx="6545942" cy="8857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46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Core Pipeline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767DBC5-D0AA-28DE-55B8-8C8AA8354FC0}"/>
              </a:ext>
            </a:extLst>
          </p:cNvPr>
          <p:cNvGrpSpPr/>
          <p:nvPr/>
        </p:nvGrpSpPr>
        <p:grpSpPr>
          <a:xfrm>
            <a:off x="7600950" y="3455791"/>
            <a:ext cx="3086099" cy="3230758"/>
            <a:chOff x="7600950" y="3455791"/>
            <a:chExt cx="3086099" cy="323075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FF3C412-CB4B-B7AE-E7A7-08BBC5D61016}"/>
                </a:ext>
              </a:extLst>
            </p:cNvPr>
            <p:cNvSpPr/>
            <p:nvPr/>
          </p:nvSpPr>
          <p:spPr>
            <a:xfrm>
              <a:off x="7600950" y="3600450"/>
              <a:ext cx="3086099" cy="30860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12800"/>
                <a:gd name="f4" fmla="*/ f0 1 812800"/>
                <a:gd name="f5" fmla="*/ f1 1 812800"/>
                <a:gd name="f6" fmla="val f2"/>
                <a:gd name="f7" fmla="val f3"/>
                <a:gd name="f8" fmla="+- f7 0 f6"/>
                <a:gd name="f9" fmla="*/ f8 1 8128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812800" h="8128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close/>
                </a:path>
              </a:pathLst>
            </a:custGeom>
            <a:solidFill>
              <a:srgbClr val="80B2E8">
                <a:alpha val="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9AF84A6-3624-3D2C-0D34-FD365ADE2BE2}"/>
                </a:ext>
              </a:extLst>
            </p:cNvPr>
            <p:cNvSpPr txBox="1"/>
            <p:nvPr/>
          </p:nvSpPr>
          <p:spPr>
            <a:xfrm>
              <a:off x="7600950" y="3455791"/>
              <a:ext cx="3086099" cy="323075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zh-CN" alt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A27F6F2-55A3-E6FD-579A-A3C2BCEE3086}"/>
              </a:ext>
            </a:extLst>
          </p:cNvPr>
          <p:cNvGrpSpPr/>
          <p:nvPr/>
        </p:nvGrpSpPr>
        <p:grpSpPr>
          <a:xfrm>
            <a:off x="5871033" y="3608185"/>
            <a:ext cx="4968419" cy="3230767"/>
            <a:chOff x="5871033" y="3608185"/>
            <a:chExt cx="4968419" cy="3230767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3CF0BBE-128D-B7FE-6DC3-A34323883585}"/>
                </a:ext>
              </a:extLst>
            </p:cNvPr>
            <p:cNvSpPr/>
            <p:nvPr/>
          </p:nvSpPr>
          <p:spPr>
            <a:xfrm>
              <a:off x="5871033" y="3752853"/>
              <a:ext cx="4968419" cy="30860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08555"/>
                <a:gd name="f4" fmla="val 812800"/>
                <a:gd name="f5" fmla="*/ f0 1 1308555"/>
                <a:gd name="f6" fmla="*/ f1 1 8128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08555"/>
                <a:gd name="f13" fmla="*/ f10 1 8128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08555" h="8128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6FDB85C-FCE4-B779-CD81-6EF0843F987D}"/>
                </a:ext>
              </a:extLst>
            </p:cNvPr>
            <p:cNvSpPr txBox="1"/>
            <p:nvPr/>
          </p:nvSpPr>
          <p:spPr>
            <a:xfrm>
              <a:off x="5871033" y="3608185"/>
              <a:ext cx="4968419" cy="323075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zh-CN" alt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5D4C2A7-1927-A38E-7273-C31C19AF5871}"/>
              </a:ext>
            </a:extLst>
          </p:cNvPr>
          <p:cNvGrpSpPr/>
          <p:nvPr/>
        </p:nvGrpSpPr>
        <p:grpSpPr>
          <a:xfrm>
            <a:off x="5871033" y="3877147"/>
            <a:ext cx="1931413" cy="2580784"/>
            <a:chOff x="5871033" y="3877147"/>
            <a:chExt cx="1931413" cy="2580784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4F40284-7D63-2F05-4804-7AF76A5B4309}"/>
                </a:ext>
              </a:extLst>
            </p:cNvPr>
            <p:cNvSpPr/>
            <p:nvPr/>
          </p:nvSpPr>
          <p:spPr>
            <a:xfrm>
              <a:off x="5871033" y="4021805"/>
              <a:ext cx="1931413" cy="243612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08685"/>
                <a:gd name="f4" fmla="val 641613"/>
                <a:gd name="f5" fmla="val 68143"/>
                <a:gd name="f6" fmla="val 440542"/>
                <a:gd name="f7" fmla="val 478176"/>
                <a:gd name="f8" fmla="val 30509"/>
                <a:gd name="f9" fmla="val 573470"/>
                <a:gd name="f10" fmla="val 611104"/>
                <a:gd name="f11" fmla="*/ f0 1 508685"/>
                <a:gd name="f12" fmla="*/ f1 1 641613"/>
                <a:gd name="f13" fmla="val f2"/>
                <a:gd name="f14" fmla="val f3"/>
                <a:gd name="f15" fmla="val f4"/>
                <a:gd name="f16" fmla="+- f15 0 f13"/>
                <a:gd name="f17" fmla="+- f14 0 f13"/>
                <a:gd name="f18" fmla="*/ f17 1 508685"/>
                <a:gd name="f19" fmla="*/ f16 1 641613"/>
                <a:gd name="f20" fmla="*/ f13 1 f18"/>
                <a:gd name="f21" fmla="*/ f14 1 f18"/>
                <a:gd name="f22" fmla="*/ f13 1 f19"/>
                <a:gd name="f23" fmla="*/ f15 1 f19"/>
                <a:gd name="f24" fmla="*/ f20 f11 1"/>
                <a:gd name="f25" fmla="*/ f21 f11 1"/>
                <a:gd name="f26" fmla="*/ f23 f12 1"/>
                <a:gd name="f27" fmla="*/ f22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4" t="f27" r="f25" b="f26"/>
              <a:pathLst>
                <a:path w="508685" h="641613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8"/>
                    <a:pt x="f8" y="f2"/>
                    <a:pt x="f5" y="f2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76B6A5E5-5C25-12A4-CD5D-B2345ACEE26E}"/>
                </a:ext>
              </a:extLst>
            </p:cNvPr>
            <p:cNvSpPr txBox="1"/>
            <p:nvPr/>
          </p:nvSpPr>
          <p:spPr>
            <a:xfrm>
              <a:off x="5871033" y="3877147"/>
              <a:ext cx="1931413" cy="258078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zh-CN" alt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FE2F29E-D666-9990-F2CF-DDDBDFBE5560}"/>
              </a:ext>
            </a:extLst>
          </p:cNvPr>
          <p:cNvGrpSpPr/>
          <p:nvPr/>
        </p:nvGrpSpPr>
        <p:grpSpPr>
          <a:xfrm>
            <a:off x="10512042" y="5151235"/>
            <a:ext cx="1904923" cy="2468725"/>
            <a:chOff x="10512042" y="5151235"/>
            <a:chExt cx="1904923" cy="246872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87C6EFA-9C7C-0FDA-005A-C037796EF64E}"/>
                </a:ext>
              </a:extLst>
            </p:cNvPr>
            <p:cNvSpPr/>
            <p:nvPr/>
          </p:nvSpPr>
          <p:spPr>
            <a:xfrm>
              <a:off x="10512042" y="5295903"/>
              <a:ext cx="1904923" cy="232405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01708"/>
                <a:gd name="f4" fmla="val 612098"/>
                <a:gd name="f5" fmla="val 69091"/>
                <a:gd name="f6" fmla="val 432618"/>
                <a:gd name="f7" fmla="val 470775"/>
                <a:gd name="f8" fmla="val 30933"/>
                <a:gd name="f9" fmla="val 543007"/>
                <a:gd name="f10" fmla="val 581165"/>
                <a:gd name="f11" fmla="*/ f0 1 501708"/>
                <a:gd name="f12" fmla="*/ f1 1 612098"/>
                <a:gd name="f13" fmla="val f2"/>
                <a:gd name="f14" fmla="val f3"/>
                <a:gd name="f15" fmla="val f4"/>
                <a:gd name="f16" fmla="+- f15 0 f13"/>
                <a:gd name="f17" fmla="+- f14 0 f13"/>
                <a:gd name="f18" fmla="*/ f17 1 501708"/>
                <a:gd name="f19" fmla="*/ f16 1 612098"/>
                <a:gd name="f20" fmla="*/ f13 1 f18"/>
                <a:gd name="f21" fmla="*/ f14 1 f18"/>
                <a:gd name="f22" fmla="*/ f13 1 f19"/>
                <a:gd name="f23" fmla="*/ f15 1 f19"/>
                <a:gd name="f24" fmla="*/ f20 f11 1"/>
                <a:gd name="f25" fmla="*/ f21 f11 1"/>
                <a:gd name="f26" fmla="*/ f23 f12 1"/>
                <a:gd name="f27" fmla="*/ f22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4" t="f27" r="f25" b="f26"/>
              <a:pathLst>
                <a:path w="501708" h="612098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8"/>
                    <a:pt x="f8" y="f2"/>
                    <a:pt x="f5" y="f2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9D07D025-97F8-EB7B-6B92-D1BFFECE9458}"/>
                </a:ext>
              </a:extLst>
            </p:cNvPr>
            <p:cNvSpPr txBox="1"/>
            <p:nvPr/>
          </p:nvSpPr>
          <p:spPr>
            <a:xfrm>
              <a:off x="10512042" y="5151235"/>
              <a:ext cx="1904923" cy="246872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zh-CN" alt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21" name="TextBox 8">
            <a:extLst>
              <a:ext uri="{FF2B5EF4-FFF2-40B4-BE49-F238E27FC236}">
                <a16:creationId xmlns:a16="http://schemas.microsoft.com/office/drawing/2014/main" id="{D2BAC2A3-CCC9-7FE8-7CA1-ED37787170BE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Ghanibhuti Gogoi</a:t>
            </a: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502BE01-34FF-47B0-5BF7-FB3453F79C55}"/>
              </a:ext>
            </a:extLst>
          </p:cNvPr>
          <p:cNvSpPr/>
          <p:nvPr/>
        </p:nvSpPr>
        <p:spPr>
          <a:xfrm>
            <a:off x="3565108" y="2564562"/>
            <a:ext cx="3171294" cy="7507964"/>
          </a:xfrm>
          <a:prstGeom prst="rect">
            <a:avLst/>
          </a:prstGeom>
          <a:solidFill>
            <a:srgbClr val="F2F2F2"/>
          </a:solidFill>
          <a:ln w="25402" cap="flat">
            <a:solidFill>
              <a:srgbClr val="1C334E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8F2F7A8-F470-06F5-8E06-85CBED646988}"/>
              </a:ext>
            </a:extLst>
          </p:cNvPr>
          <p:cNvSpPr/>
          <p:nvPr/>
        </p:nvSpPr>
        <p:spPr>
          <a:xfrm>
            <a:off x="13557095" y="6774021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1995B2-FF7F-5500-98B1-5C73C447B792}"/>
              </a:ext>
            </a:extLst>
          </p:cNvPr>
          <p:cNvSpPr/>
          <p:nvPr/>
        </p:nvSpPr>
        <p:spPr>
          <a:xfrm>
            <a:off x="10304867" y="2544857"/>
            <a:ext cx="3437339" cy="7458696"/>
          </a:xfrm>
          <a:prstGeom prst="rect">
            <a:avLst/>
          </a:prstGeom>
          <a:solidFill>
            <a:srgbClr val="F2F2F2"/>
          </a:solidFill>
          <a:ln w="25402" cap="flat">
            <a:solidFill>
              <a:srgbClr val="1C334E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0DCB75B-42E9-0C5C-8A95-3997C18DE073}"/>
              </a:ext>
            </a:extLst>
          </p:cNvPr>
          <p:cNvSpPr/>
          <p:nvPr/>
        </p:nvSpPr>
        <p:spPr>
          <a:xfrm flipH="1">
            <a:off x="-1497878" y="6774021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35E7A7-DFFD-326A-8F42-B9F15A4F417F}"/>
              </a:ext>
            </a:extLst>
          </p:cNvPr>
          <p:cNvGrpSpPr/>
          <p:nvPr/>
        </p:nvGrpSpPr>
        <p:grpSpPr>
          <a:xfrm>
            <a:off x="10485525" y="2757089"/>
            <a:ext cx="3068223" cy="2438604"/>
            <a:chOff x="10485525" y="2757089"/>
            <a:chExt cx="3068223" cy="2438604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3764E02-469E-47F7-6BA1-1338B5015753}"/>
                </a:ext>
              </a:extLst>
            </p:cNvPr>
            <p:cNvSpPr/>
            <p:nvPr/>
          </p:nvSpPr>
          <p:spPr>
            <a:xfrm>
              <a:off x="10485525" y="2901747"/>
              <a:ext cx="3068223" cy="229394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08091"/>
                <a:gd name="f4" fmla="val 604167"/>
                <a:gd name="f5" fmla="val 128686"/>
                <a:gd name="f6" fmla="val 679404"/>
                <a:gd name="f7" fmla="val 750476"/>
                <a:gd name="f8" fmla="val 57615"/>
                <a:gd name="f9" fmla="val 475480"/>
                <a:gd name="f10" fmla="val 546552"/>
                <a:gd name="f11" fmla="*/ f0 1 808091"/>
                <a:gd name="f12" fmla="*/ f1 1 604167"/>
                <a:gd name="f13" fmla="val f2"/>
                <a:gd name="f14" fmla="val f3"/>
                <a:gd name="f15" fmla="val f4"/>
                <a:gd name="f16" fmla="+- f15 0 f13"/>
                <a:gd name="f17" fmla="+- f14 0 f13"/>
                <a:gd name="f18" fmla="*/ f17 1 808091"/>
                <a:gd name="f19" fmla="*/ f16 1 604167"/>
                <a:gd name="f20" fmla="*/ f13 1 f18"/>
                <a:gd name="f21" fmla="*/ f14 1 f18"/>
                <a:gd name="f22" fmla="*/ f13 1 f19"/>
                <a:gd name="f23" fmla="*/ f15 1 f19"/>
                <a:gd name="f24" fmla="*/ f20 f11 1"/>
                <a:gd name="f25" fmla="*/ f21 f11 1"/>
                <a:gd name="f26" fmla="*/ f23 f12 1"/>
                <a:gd name="f27" fmla="*/ f22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4" t="f27" r="f25" b="f26"/>
              <a:pathLst>
                <a:path w="808091" h="604167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8"/>
                    <a:pt x="f8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D197C4-631A-DAE1-784E-D8597BD4D5A8}"/>
                </a:ext>
              </a:extLst>
            </p:cNvPr>
            <p:cNvSpPr txBox="1"/>
            <p:nvPr/>
          </p:nvSpPr>
          <p:spPr>
            <a:xfrm>
              <a:off x="10485525" y="2757089"/>
              <a:ext cx="3068223" cy="243860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Data Augmentation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978F8AA-8706-E745-8250-925E88A858F8}"/>
              </a:ext>
            </a:extLst>
          </p:cNvPr>
          <p:cNvGrpSpPr/>
          <p:nvPr/>
        </p:nvGrpSpPr>
        <p:grpSpPr>
          <a:xfrm>
            <a:off x="10474936" y="7595207"/>
            <a:ext cx="3068223" cy="2218087"/>
            <a:chOff x="10474936" y="7595207"/>
            <a:chExt cx="3068223" cy="2218087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CCC9CC8-C7AE-D3A1-E8B3-52FBBF3D0F88}"/>
                </a:ext>
              </a:extLst>
            </p:cNvPr>
            <p:cNvSpPr/>
            <p:nvPr/>
          </p:nvSpPr>
          <p:spPr>
            <a:xfrm>
              <a:off x="10474936" y="7739865"/>
              <a:ext cx="3068223" cy="207342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08091"/>
                <a:gd name="f4" fmla="val 546088"/>
                <a:gd name="f5" fmla="val 128686"/>
                <a:gd name="f6" fmla="val 679404"/>
                <a:gd name="f7" fmla="val 750476"/>
                <a:gd name="f8" fmla="val 57615"/>
                <a:gd name="f9" fmla="val 417401"/>
                <a:gd name="f10" fmla="val 488473"/>
                <a:gd name="f11" fmla="*/ f0 1 808091"/>
                <a:gd name="f12" fmla="*/ f1 1 546088"/>
                <a:gd name="f13" fmla="val f2"/>
                <a:gd name="f14" fmla="val f3"/>
                <a:gd name="f15" fmla="val f4"/>
                <a:gd name="f16" fmla="+- f15 0 f13"/>
                <a:gd name="f17" fmla="+- f14 0 f13"/>
                <a:gd name="f18" fmla="*/ f17 1 808091"/>
                <a:gd name="f19" fmla="*/ f16 1 546088"/>
                <a:gd name="f20" fmla="*/ f13 1 f18"/>
                <a:gd name="f21" fmla="*/ f14 1 f18"/>
                <a:gd name="f22" fmla="*/ f13 1 f19"/>
                <a:gd name="f23" fmla="*/ f15 1 f19"/>
                <a:gd name="f24" fmla="*/ f20 f11 1"/>
                <a:gd name="f25" fmla="*/ f21 f11 1"/>
                <a:gd name="f26" fmla="*/ f23 f12 1"/>
                <a:gd name="f27" fmla="*/ f22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4" t="f27" r="f25" b="f26"/>
              <a:pathLst>
                <a:path w="808091" h="546088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8"/>
                    <a:pt x="f8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DE7207-4555-B8E8-2C06-2EEDD4BFA422}"/>
                </a:ext>
              </a:extLst>
            </p:cNvPr>
            <p:cNvSpPr txBox="1"/>
            <p:nvPr/>
          </p:nvSpPr>
          <p:spPr>
            <a:xfrm>
              <a:off x="10474936" y="7595207"/>
              <a:ext cx="3068223" cy="221808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Lora vs. Full Fine-tuning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A30B0A-6C87-7F84-F6D9-9ABE0B8F0D18}"/>
              </a:ext>
            </a:extLst>
          </p:cNvPr>
          <p:cNvGrpSpPr/>
          <p:nvPr/>
        </p:nvGrpSpPr>
        <p:grpSpPr>
          <a:xfrm>
            <a:off x="10474936" y="5349916"/>
            <a:ext cx="3074496" cy="2116424"/>
            <a:chOff x="10474936" y="5349916"/>
            <a:chExt cx="3074496" cy="211642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2B77207-AD58-ECFA-E599-7D0D73F26E15}"/>
                </a:ext>
              </a:extLst>
            </p:cNvPr>
            <p:cNvSpPr/>
            <p:nvPr/>
          </p:nvSpPr>
          <p:spPr>
            <a:xfrm>
              <a:off x="10474936" y="5494574"/>
              <a:ext cx="3074496" cy="197176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09745"/>
                <a:gd name="f4" fmla="val 519314"/>
                <a:gd name="f5" fmla="val 128423"/>
                <a:gd name="f6" fmla="val 681321"/>
                <a:gd name="f7" fmla="val 715382"/>
                <a:gd name="f8" fmla="val 748047"/>
                <a:gd name="f9" fmla="val 13530"/>
                <a:gd name="f10" fmla="val 772131"/>
                <a:gd name="f11" fmla="val 37614"/>
                <a:gd name="f12" fmla="val 796215"/>
                <a:gd name="f13" fmla="val 61698"/>
                <a:gd name="f14" fmla="val 94363"/>
                <a:gd name="f15" fmla="val 390890"/>
                <a:gd name="f16" fmla="val 424950"/>
                <a:gd name="f17" fmla="val 457615"/>
                <a:gd name="f18" fmla="val 481699"/>
                <a:gd name="f19" fmla="val 505783"/>
                <a:gd name="f20" fmla="val 57497"/>
                <a:gd name="f21" fmla="val 461816"/>
                <a:gd name="f22" fmla="*/ f0 1 809745"/>
                <a:gd name="f23" fmla="*/ f1 1 519314"/>
                <a:gd name="f24" fmla="val f2"/>
                <a:gd name="f25" fmla="val f3"/>
                <a:gd name="f26" fmla="val f4"/>
                <a:gd name="f27" fmla="+- f26 0 f24"/>
                <a:gd name="f28" fmla="+- f25 0 f24"/>
                <a:gd name="f29" fmla="*/ f28 1 809745"/>
                <a:gd name="f30" fmla="*/ f27 1 519314"/>
                <a:gd name="f31" fmla="*/ f24 1 f29"/>
                <a:gd name="f32" fmla="*/ f25 1 f29"/>
                <a:gd name="f33" fmla="*/ f24 1 f30"/>
                <a:gd name="f34" fmla="*/ f26 1 f30"/>
                <a:gd name="f35" fmla="*/ f31 f22 1"/>
                <a:gd name="f36" fmla="*/ f32 f22 1"/>
                <a:gd name="f37" fmla="*/ f34 f23 1"/>
                <a:gd name="f38" fmla="*/ f33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5" t="f38" r="f36" b="f37"/>
              <a:pathLst>
                <a:path w="809745" h="519314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8" y="f9"/>
                    <a:pt x="f10" y="f11"/>
                  </a:cubicBezTo>
                  <a:cubicBezTo>
                    <a:pt x="f12" y="f13"/>
                    <a:pt x="f3" y="f14"/>
                    <a:pt x="f3" y="f5"/>
                  </a:cubicBezTo>
                  <a:lnTo>
                    <a:pt x="f3" y="f15"/>
                  </a:lnTo>
                  <a:cubicBezTo>
                    <a:pt x="f3" y="f16"/>
                    <a:pt x="f12" y="f17"/>
                    <a:pt x="f10" y="f18"/>
                  </a:cubicBezTo>
                  <a:cubicBezTo>
                    <a:pt x="f8" y="f19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20" y="f4"/>
                    <a:pt x="f2" y="f21"/>
                    <a:pt x="f2" y="f15"/>
                  </a:cubicBezTo>
                  <a:lnTo>
                    <a:pt x="f2" y="f5"/>
                  </a:lnTo>
                  <a:cubicBezTo>
                    <a:pt x="f2" y="f14"/>
                    <a:pt x="f9" y="f13"/>
                    <a:pt x="f11" y="f11"/>
                  </a:cubicBezTo>
                  <a:cubicBezTo>
                    <a:pt x="f13" y="f9"/>
                    <a:pt x="f14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DB7138-1A2B-0565-19D1-5EAE5779FA63}"/>
                </a:ext>
              </a:extLst>
            </p:cNvPr>
            <p:cNvSpPr txBox="1"/>
            <p:nvPr/>
          </p:nvSpPr>
          <p:spPr>
            <a:xfrm>
              <a:off x="10474936" y="5349916"/>
              <a:ext cx="3074496" cy="211642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Zero Shot vs. Few Shot vs. Fine-tuned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7B35F15-B329-4ADF-25C7-3DD10AED9D3E}"/>
              </a:ext>
            </a:extLst>
          </p:cNvPr>
          <p:cNvGrpSpPr/>
          <p:nvPr/>
        </p:nvGrpSpPr>
        <p:grpSpPr>
          <a:xfrm>
            <a:off x="3767282" y="3500222"/>
            <a:ext cx="2744333" cy="2438613"/>
            <a:chOff x="3767282" y="3500222"/>
            <a:chExt cx="2744333" cy="2438613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315A1CB-A43F-8220-EE0C-7409A6E21C91}"/>
                </a:ext>
              </a:extLst>
            </p:cNvPr>
            <p:cNvSpPr/>
            <p:nvPr/>
          </p:nvSpPr>
          <p:spPr>
            <a:xfrm>
              <a:off x="3767282" y="3644889"/>
              <a:ext cx="2744333" cy="229394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22789"/>
                <a:gd name="f4" fmla="val 604167"/>
                <a:gd name="f5" fmla="val 143874"/>
                <a:gd name="f6" fmla="val 578915"/>
                <a:gd name="f7" fmla="val 658374"/>
                <a:gd name="f8" fmla="val 64414"/>
                <a:gd name="f9" fmla="val 460293"/>
                <a:gd name="f10" fmla="val 498451"/>
                <a:gd name="f11" fmla="val 707631"/>
                <a:gd name="f12" fmla="val 535045"/>
                <a:gd name="f13" fmla="val 680649"/>
                <a:gd name="f14" fmla="val 562027"/>
                <a:gd name="f15" fmla="val 653667"/>
                <a:gd name="f16" fmla="val 589009"/>
                <a:gd name="f17" fmla="val 617073"/>
                <a:gd name="f18" fmla="val 105716"/>
                <a:gd name="f19" fmla="val 69121"/>
                <a:gd name="f20" fmla="val 42140"/>
                <a:gd name="f21" fmla="val 15158"/>
                <a:gd name="f22" fmla="*/ f0 1 722789"/>
                <a:gd name="f23" fmla="*/ f1 1 604167"/>
                <a:gd name="f24" fmla="val f2"/>
                <a:gd name="f25" fmla="val f3"/>
                <a:gd name="f26" fmla="val f4"/>
                <a:gd name="f27" fmla="+- f26 0 f24"/>
                <a:gd name="f28" fmla="+- f25 0 f24"/>
                <a:gd name="f29" fmla="*/ f28 1 722789"/>
                <a:gd name="f30" fmla="*/ f27 1 604167"/>
                <a:gd name="f31" fmla="*/ f24 1 f29"/>
                <a:gd name="f32" fmla="*/ f25 1 f29"/>
                <a:gd name="f33" fmla="*/ f24 1 f30"/>
                <a:gd name="f34" fmla="*/ f26 1 f30"/>
                <a:gd name="f35" fmla="*/ f31 f22 1"/>
                <a:gd name="f36" fmla="*/ f32 f22 1"/>
                <a:gd name="f37" fmla="*/ f34 f23 1"/>
                <a:gd name="f38" fmla="*/ f33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5" t="f38" r="f36" b="f37"/>
              <a:pathLst>
                <a:path w="722789" h="604167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11" y="f12"/>
                    <a:pt x="f13" y="f14"/>
                  </a:cubicBezTo>
                  <a:cubicBezTo>
                    <a:pt x="f15" y="f16"/>
                    <a:pt x="f17" y="f4"/>
                    <a:pt x="f6" y="f4"/>
                  </a:cubicBezTo>
                  <a:lnTo>
                    <a:pt x="f5" y="f4"/>
                  </a:lnTo>
                  <a:cubicBezTo>
                    <a:pt x="f18" y="f4"/>
                    <a:pt x="f19" y="f16"/>
                    <a:pt x="f20" y="f14"/>
                  </a:cubicBezTo>
                  <a:cubicBezTo>
                    <a:pt x="f21" y="f12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18"/>
                    <a:pt x="f21" y="f19"/>
                    <a:pt x="f20" y="f20"/>
                  </a:cubicBezTo>
                  <a:cubicBezTo>
                    <a:pt x="f19" y="f21"/>
                    <a:pt x="f18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46B1F5-591D-B3D7-9F48-60A1A242D765}"/>
                </a:ext>
              </a:extLst>
            </p:cNvPr>
            <p:cNvSpPr txBox="1"/>
            <p:nvPr/>
          </p:nvSpPr>
          <p:spPr>
            <a:xfrm>
              <a:off x="3767282" y="3500222"/>
              <a:ext cx="2744333" cy="243860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Classification (Distilled BERT)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87F08D2-3601-E389-B5A1-82461D02BB3A}"/>
              </a:ext>
            </a:extLst>
          </p:cNvPr>
          <p:cNvSpPr txBox="1"/>
          <p:nvPr/>
        </p:nvSpPr>
        <p:spPr>
          <a:xfrm>
            <a:off x="4597036" y="313593"/>
            <a:ext cx="8871380" cy="17050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Different Models Trained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8032A8-693C-8705-FAF3-39BECC685538}"/>
              </a:ext>
            </a:extLst>
          </p:cNvPr>
          <p:cNvGrpSpPr/>
          <p:nvPr/>
        </p:nvGrpSpPr>
        <p:grpSpPr>
          <a:xfrm>
            <a:off x="3767282" y="6632289"/>
            <a:ext cx="2744333" cy="2449083"/>
            <a:chOff x="3767282" y="6632289"/>
            <a:chExt cx="2744333" cy="2449083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7A74F9E-AD5E-78A1-D98D-6C3DEF906A41}"/>
                </a:ext>
              </a:extLst>
            </p:cNvPr>
            <p:cNvSpPr/>
            <p:nvPr/>
          </p:nvSpPr>
          <p:spPr>
            <a:xfrm>
              <a:off x="3767282" y="6777569"/>
              <a:ext cx="2744333" cy="230379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22789"/>
                <a:gd name="f4" fmla="val 604167"/>
                <a:gd name="f5" fmla="val 143874"/>
                <a:gd name="f6" fmla="val 578915"/>
                <a:gd name="f7" fmla="val 658374"/>
                <a:gd name="f8" fmla="val 64414"/>
                <a:gd name="f9" fmla="val 460293"/>
                <a:gd name="f10" fmla="val 498451"/>
                <a:gd name="f11" fmla="val 707631"/>
                <a:gd name="f12" fmla="val 535045"/>
                <a:gd name="f13" fmla="val 680649"/>
                <a:gd name="f14" fmla="val 562027"/>
                <a:gd name="f15" fmla="val 653667"/>
                <a:gd name="f16" fmla="val 589009"/>
                <a:gd name="f17" fmla="val 617073"/>
                <a:gd name="f18" fmla="val 105716"/>
                <a:gd name="f19" fmla="val 69121"/>
                <a:gd name="f20" fmla="val 42140"/>
                <a:gd name="f21" fmla="val 15158"/>
                <a:gd name="f22" fmla="*/ f0 1 722789"/>
                <a:gd name="f23" fmla="*/ f1 1 604167"/>
                <a:gd name="f24" fmla="val f2"/>
                <a:gd name="f25" fmla="val f3"/>
                <a:gd name="f26" fmla="val f4"/>
                <a:gd name="f27" fmla="+- f26 0 f24"/>
                <a:gd name="f28" fmla="+- f25 0 f24"/>
                <a:gd name="f29" fmla="*/ f28 1 722789"/>
                <a:gd name="f30" fmla="*/ f27 1 604167"/>
                <a:gd name="f31" fmla="*/ f24 1 f29"/>
                <a:gd name="f32" fmla="*/ f25 1 f29"/>
                <a:gd name="f33" fmla="*/ f24 1 f30"/>
                <a:gd name="f34" fmla="*/ f26 1 f30"/>
                <a:gd name="f35" fmla="*/ f31 f22 1"/>
                <a:gd name="f36" fmla="*/ f32 f22 1"/>
                <a:gd name="f37" fmla="*/ f34 f23 1"/>
                <a:gd name="f38" fmla="*/ f33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5" t="f38" r="f36" b="f37"/>
              <a:pathLst>
                <a:path w="722789" h="604167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11" y="f12"/>
                    <a:pt x="f13" y="f14"/>
                  </a:cubicBezTo>
                  <a:cubicBezTo>
                    <a:pt x="f15" y="f16"/>
                    <a:pt x="f17" y="f4"/>
                    <a:pt x="f6" y="f4"/>
                  </a:cubicBezTo>
                  <a:lnTo>
                    <a:pt x="f5" y="f4"/>
                  </a:lnTo>
                  <a:cubicBezTo>
                    <a:pt x="f18" y="f4"/>
                    <a:pt x="f19" y="f16"/>
                    <a:pt x="f20" y="f14"/>
                  </a:cubicBezTo>
                  <a:cubicBezTo>
                    <a:pt x="f21" y="f12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18"/>
                    <a:pt x="f21" y="f19"/>
                    <a:pt x="f20" y="f20"/>
                  </a:cubicBezTo>
                  <a:cubicBezTo>
                    <a:pt x="f19" y="f21"/>
                    <a:pt x="f18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2678395-AA7E-7756-5DFD-2F567210AE58}"/>
                </a:ext>
              </a:extLst>
            </p:cNvPr>
            <p:cNvSpPr txBox="1"/>
            <p:nvPr/>
          </p:nvSpPr>
          <p:spPr>
            <a:xfrm>
              <a:off x="3767282" y="6632289"/>
              <a:ext cx="2744333" cy="24490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Reply Generation</a:t>
              </a:r>
            </a:p>
            <a:p>
              <a:pPr marL="0" marR="0" lvl="0" indent="0" algn="ctr" defTabSz="914400" rtl="0" fontAlgn="auto" hangingPunct="1">
                <a:lnSpc>
                  <a:spcPts val="266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(GPT2)</a:t>
              </a:r>
            </a:p>
          </p:txBody>
        </p:sp>
      </p:grpSp>
      <p:pic>
        <p:nvPicPr>
          <p:cNvPr id="22" name="图形 27" descr="线箭头: 直 纯色填充">
            <a:extLst>
              <a:ext uri="{FF2B5EF4-FFF2-40B4-BE49-F238E27FC236}">
                <a16:creationId xmlns:a16="http://schemas.microsoft.com/office/drawing/2014/main" id="{37ED568A-EDB6-72EF-79DE-7617E5DE3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>
            <a:off x="6802587" y="3381980"/>
            <a:ext cx="3094174" cy="309474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3" name="文本框 30">
            <a:extLst>
              <a:ext uri="{FF2B5EF4-FFF2-40B4-BE49-F238E27FC236}">
                <a16:creationId xmlns:a16="http://schemas.microsoft.com/office/drawing/2014/main" id="{C9801616-2167-D3AF-8CB7-313CF69376F8}"/>
              </a:ext>
            </a:extLst>
          </p:cNvPr>
          <p:cNvSpPr txBox="1"/>
          <p:nvPr/>
        </p:nvSpPr>
        <p:spPr>
          <a:xfrm>
            <a:off x="2291495" y="1827830"/>
            <a:ext cx="5716563" cy="14080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Open Sauce"/>
                <a:ea typeface="宋体"/>
                <a:cs typeface="Calibri"/>
              </a:rPr>
              <a:t>Final Pipeline</a:t>
            </a:r>
          </a:p>
          <a:p>
            <a:pPr marL="0" marR="0" lvl="0" indent="0" algn="ctr" defTabSz="914400" rtl="0" fontAlgn="auto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Open Sauce"/>
                <a:ea typeface="宋体"/>
                <a:cs typeface="Calibri"/>
              </a:rPr>
              <a:t>(Streamlit UI)</a:t>
            </a:r>
          </a:p>
          <a:p>
            <a:pPr marL="0" marR="0" lvl="0" indent="0" algn="ctr" defTabSz="914400" rtl="0" fontAlgn="auto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Open Sauce"/>
              <a:ea typeface="宋体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Open Sauce"/>
              <a:ea typeface="宋体"/>
              <a:cs typeface="Calibri"/>
            </a:endParaRPr>
          </a:p>
        </p:txBody>
      </p:sp>
      <p:sp>
        <p:nvSpPr>
          <p:cNvPr id="24" name="文本框 31">
            <a:extLst>
              <a:ext uri="{FF2B5EF4-FFF2-40B4-BE49-F238E27FC236}">
                <a16:creationId xmlns:a16="http://schemas.microsoft.com/office/drawing/2014/main" id="{51F313F8-C742-978B-E7CE-ED51E17AE460}"/>
              </a:ext>
            </a:extLst>
          </p:cNvPr>
          <p:cNvSpPr txBox="1"/>
          <p:nvPr/>
        </p:nvSpPr>
        <p:spPr>
          <a:xfrm>
            <a:off x="9169200" y="2090263"/>
            <a:ext cx="5716563" cy="4385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Open Sauce"/>
                <a:ea typeface="宋体"/>
                <a:cs typeface="Calibri"/>
              </a:rPr>
              <a:t>Experiments</a:t>
            </a:r>
          </a:p>
        </p:txBody>
      </p:sp>
      <p:pic>
        <p:nvPicPr>
          <p:cNvPr id="25" name="图形 20" descr="线箭头: 直 纯色填充">
            <a:extLst>
              <a:ext uri="{FF2B5EF4-FFF2-40B4-BE49-F238E27FC236}">
                <a16:creationId xmlns:a16="http://schemas.microsoft.com/office/drawing/2014/main" id="{AA40D38A-DC69-0C22-1B7B-F8939F07A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799991">
            <a:off x="6737536" y="6272005"/>
            <a:ext cx="3094174" cy="309474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6" name="TextBox 8">
            <a:extLst>
              <a:ext uri="{FF2B5EF4-FFF2-40B4-BE49-F238E27FC236}">
                <a16:creationId xmlns:a16="http://schemas.microsoft.com/office/drawing/2014/main" id="{927022FB-CEF4-717E-F709-AD92AE4BB80A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Ghanibhuti Gogoi</a:t>
            </a: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1CA538-0948-307A-EF9A-0DD82C0A4A0B}"/>
              </a:ext>
            </a:extLst>
          </p:cNvPr>
          <p:cNvSpPr/>
          <p:nvPr/>
        </p:nvSpPr>
        <p:spPr>
          <a:xfrm>
            <a:off x="-1578601" y="-504556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F91EB3-78C7-D232-43FC-DDFBEA84FA23}"/>
              </a:ext>
            </a:extLst>
          </p:cNvPr>
          <p:cNvSpPr/>
          <p:nvPr/>
        </p:nvSpPr>
        <p:spPr>
          <a:xfrm>
            <a:off x="13995751" y="-141697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822092E-B1C5-94B6-9D70-6818578F0655}"/>
              </a:ext>
            </a:extLst>
          </p:cNvPr>
          <p:cNvSpPr/>
          <p:nvPr/>
        </p:nvSpPr>
        <p:spPr>
          <a:xfrm>
            <a:off x="13468417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6FEC8DA-9877-F584-CD3B-AB9D42928897}"/>
              </a:ext>
            </a:extLst>
          </p:cNvPr>
          <p:cNvSpPr/>
          <p:nvPr/>
        </p:nvSpPr>
        <p:spPr>
          <a:xfrm flipH="1">
            <a:off x="-453414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12B2296-C78C-9900-D391-1DDF7999FF6F}"/>
              </a:ext>
            </a:extLst>
          </p:cNvPr>
          <p:cNvSpPr/>
          <p:nvPr/>
        </p:nvSpPr>
        <p:spPr>
          <a:xfrm>
            <a:off x="4818805" y="821887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val 2442685"/>
              <a:gd name="f6" fmla="*/ f0 1 8924733"/>
              <a:gd name="f7" fmla="*/ f1 1 2442684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924733"/>
              <a:gd name="f14" fmla="*/ f11 1 2442684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DBCF0F0-EC8D-0E02-80DD-A8B169EBE24A}"/>
              </a:ext>
            </a:extLst>
          </p:cNvPr>
          <p:cNvGrpSpPr/>
          <p:nvPr/>
        </p:nvGrpSpPr>
        <p:grpSpPr>
          <a:xfrm>
            <a:off x="1295439" y="3583954"/>
            <a:ext cx="3086099" cy="2974442"/>
            <a:chOff x="1295439" y="3583954"/>
            <a:chExt cx="3086099" cy="2974442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54BFFC-B2A6-C444-18F1-3F95C3A26045}"/>
                </a:ext>
              </a:extLst>
            </p:cNvPr>
            <p:cNvSpPr/>
            <p:nvPr/>
          </p:nvSpPr>
          <p:spPr>
            <a:xfrm>
              <a:off x="1295439" y="3728612"/>
              <a:ext cx="3086099" cy="282977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12800"/>
                <a:gd name="f4" fmla="val 745291"/>
                <a:gd name="f5" fmla="val 127941"/>
                <a:gd name="f6" fmla="val 684859"/>
                <a:gd name="f7" fmla="val 718791"/>
                <a:gd name="f8" fmla="val 751333"/>
                <a:gd name="f9" fmla="val 13479"/>
                <a:gd name="f10" fmla="val 775327"/>
                <a:gd name="f11" fmla="val 37473"/>
                <a:gd name="f12" fmla="val 799321"/>
                <a:gd name="f13" fmla="val 61467"/>
                <a:gd name="f14" fmla="val 94009"/>
                <a:gd name="f15" fmla="val 617351"/>
                <a:gd name="f16" fmla="val 651283"/>
                <a:gd name="f17" fmla="val 683825"/>
                <a:gd name="f18" fmla="val 707819"/>
                <a:gd name="f19" fmla="val 731812"/>
                <a:gd name="f20" fmla="*/ f0 1 812800"/>
                <a:gd name="f21" fmla="*/ f1 1 745291"/>
                <a:gd name="f22" fmla="val f2"/>
                <a:gd name="f23" fmla="val f3"/>
                <a:gd name="f24" fmla="val f4"/>
                <a:gd name="f25" fmla="+- f24 0 f22"/>
                <a:gd name="f26" fmla="+- f23 0 f22"/>
                <a:gd name="f27" fmla="*/ f26 1 812800"/>
                <a:gd name="f28" fmla="*/ f25 1 745291"/>
                <a:gd name="f29" fmla="*/ f22 1 f27"/>
                <a:gd name="f30" fmla="*/ f23 1 f27"/>
                <a:gd name="f31" fmla="*/ f22 1 f28"/>
                <a:gd name="f32" fmla="*/ f24 1 f28"/>
                <a:gd name="f33" fmla="*/ f29 f20 1"/>
                <a:gd name="f34" fmla="*/ f30 f20 1"/>
                <a:gd name="f35" fmla="*/ f32 f21 1"/>
                <a:gd name="f36" fmla="*/ f31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3" t="f36" r="f34" b="f35"/>
              <a:pathLst>
                <a:path w="812800" h="745291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8" y="f9"/>
                    <a:pt x="f10" y="f11"/>
                  </a:cubicBezTo>
                  <a:cubicBezTo>
                    <a:pt x="f12" y="f13"/>
                    <a:pt x="f3" y="f14"/>
                    <a:pt x="f3" y="f5"/>
                  </a:cubicBezTo>
                  <a:lnTo>
                    <a:pt x="f3" y="f15"/>
                  </a:lnTo>
                  <a:cubicBezTo>
                    <a:pt x="f3" y="f16"/>
                    <a:pt x="f12" y="f17"/>
                    <a:pt x="f10" y="f18"/>
                  </a:cubicBezTo>
                  <a:cubicBezTo>
                    <a:pt x="f8" y="f19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4" y="f4"/>
                    <a:pt x="f13" y="f19"/>
                    <a:pt x="f11" y="f18"/>
                  </a:cubicBezTo>
                  <a:cubicBezTo>
                    <a:pt x="f9" y="f17"/>
                    <a:pt x="f2" y="f16"/>
                    <a:pt x="f2" y="f15"/>
                  </a:cubicBezTo>
                  <a:lnTo>
                    <a:pt x="f2" y="f5"/>
                  </a:lnTo>
                  <a:cubicBezTo>
                    <a:pt x="f2" y="f14"/>
                    <a:pt x="f9" y="f13"/>
                    <a:pt x="f11" y="f11"/>
                  </a:cubicBezTo>
                  <a:cubicBezTo>
                    <a:pt x="f13" y="f9"/>
                    <a:pt x="f14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D165D1F-209E-EE11-38AB-D83E239A49F4}"/>
                </a:ext>
              </a:extLst>
            </p:cNvPr>
            <p:cNvSpPr txBox="1"/>
            <p:nvPr/>
          </p:nvSpPr>
          <p:spPr>
            <a:xfrm>
              <a:off x="1295439" y="3583954"/>
              <a:ext cx="3086099" cy="297444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Non-spam emails from EnronSpam dataset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5F80260-B02B-8E3D-9C76-A60911EBF43A}"/>
              </a:ext>
            </a:extLst>
          </p:cNvPr>
          <p:cNvGrpSpPr/>
          <p:nvPr/>
        </p:nvGrpSpPr>
        <p:grpSpPr>
          <a:xfrm>
            <a:off x="5443039" y="2593311"/>
            <a:ext cx="6310237" cy="5191716"/>
            <a:chOff x="5443039" y="2593311"/>
            <a:chExt cx="6310237" cy="519171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27DD936-57B4-FB2F-1699-A388A0D1BE8E}"/>
                </a:ext>
              </a:extLst>
            </p:cNvPr>
            <p:cNvSpPr/>
            <p:nvPr/>
          </p:nvSpPr>
          <p:spPr>
            <a:xfrm>
              <a:off x="5443039" y="2845804"/>
              <a:ext cx="6310237" cy="493921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16864"/>
                <a:gd name="f4" fmla="val 745291"/>
                <a:gd name="f5" fmla="val 78968"/>
                <a:gd name="f6" fmla="val 1237895"/>
                <a:gd name="f7" fmla="val 1258839"/>
                <a:gd name="f8" fmla="val 1278925"/>
                <a:gd name="f9" fmla="val 8320"/>
                <a:gd name="f10" fmla="val 1293734"/>
                <a:gd name="f11" fmla="val 23129"/>
                <a:gd name="f12" fmla="val 1308544"/>
                <a:gd name="f13" fmla="val 37939"/>
                <a:gd name="f14" fmla="val 58024"/>
                <a:gd name="f15" fmla="val 666323"/>
                <a:gd name="f16" fmla="val 687267"/>
                <a:gd name="f17" fmla="val 707353"/>
                <a:gd name="f18" fmla="val 722162"/>
                <a:gd name="f19" fmla="val 736972"/>
                <a:gd name="f20" fmla="*/ f0 1 1316864"/>
                <a:gd name="f21" fmla="*/ f1 1 745291"/>
                <a:gd name="f22" fmla="val f2"/>
                <a:gd name="f23" fmla="val f3"/>
                <a:gd name="f24" fmla="val f4"/>
                <a:gd name="f25" fmla="+- f24 0 f22"/>
                <a:gd name="f26" fmla="+- f23 0 f22"/>
                <a:gd name="f27" fmla="*/ f26 1 1316864"/>
                <a:gd name="f28" fmla="*/ f25 1 745291"/>
                <a:gd name="f29" fmla="*/ f22 1 f27"/>
                <a:gd name="f30" fmla="*/ f23 1 f27"/>
                <a:gd name="f31" fmla="*/ f22 1 f28"/>
                <a:gd name="f32" fmla="*/ f24 1 f28"/>
                <a:gd name="f33" fmla="*/ f29 f20 1"/>
                <a:gd name="f34" fmla="*/ f30 f20 1"/>
                <a:gd name="f35" fmla="*/ f32 f21 1"/>
                <a:gd name="f36" fmla="*/ f31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3" t="f36" r="f34" b="f35"/>
              <a:pathLst>
                <a:path w="1316864" h="745291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8" y="f9"/>
                    <a:pt x="f10" y="f11"/>
                  </a:cubicBezTo>
                  <a:cubicBezTo>
                    <a:pt x="f12" y="f13"/>
                    <a:pt x="f3" y="f14"/>
                    <a:pt x="f3" y="f5"/>
                  </a:cubicBezTo>
                  <a:lnTo>
                    <a:pt x="f3" y="f15"/>
                  </a:lnTo>
                  <a:cubicBezTo>
                    <a:pt x="f3" y="f16"/>
                    <a:pt x="f12" y="f17"/>
                    <a:pt x="f10" y="f18"/>
                  </a:cubicBezTo>
                  <a:cubicBezTo>
                    <a:pt x="f8" y="f19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4" y="f4"/>
                    <a:pt x="f13" y="f19"/>
                    <a:pt x="f11" y="f18"/>
                  </a:cubicBezTo>
                  <a:cubicBezTo>
                    <a:pt x="f9" y="f17"/>
                    <a:pt x="f2" y="f16"/>
                    <a:pt x="f2" y="f15"/>
                  </a:cubicBezTo>
                  <a:lnTo>
                    <a:pt x="f2" y="f5"/>
                  </a:lnTo>
                  <a:cubicBezTo>
                    <a:pt x="f2" y="f14"/>
                    <a:pt x="f9" y="f13"/>
                    <a:pt x="f11" y="f11"/>
                  </a:cubicBezTo>
                  <a:cubicBezTo>
                    <a:pt x="f13" y="f9"/>
                    <a:pt x="f14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FC45411-EEE7-B29D-3C20-1FC76BA8182E}"/>
                </a:ext>
              </a:extLst>
            </p:cNvPr>
            <p:cNvSpPr txBox="1"/>
            <p:nvPr/>
          </p:nvSpPr>
          <p:spPr>
            <a:xfrm>
              <a:off x="5443039" y="2593311"/>
              <a:ext cx="6310237" cy="519171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Using neuralchat-7b model in ollama with</a:t>
              </a:r>
            </a:p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  </a:t>
              </a:r>
              <a:r>
                <a:rPr lang="en-US" sz="2400" b="1" i="0" u="none" strike="noStrike" kern="1200" cap="none" spc="0" baseline="0">
                  <a:solidFill>
                    <a:srgbClr val="000000"/>
                  </a:solidFill>
                  <a:uFillTx/>
                  <a:latin typeface="Canva Sans Bold"/>
                  <a:ea typeface="Canva Sans Bold"/>
                  <a:cs typeface="Canva Sans Bold"/>
                </a:rPr>
                <a:t>prompt = "Write a short, professional email reply to this message. Output ONLY the reply body. Do not include subject lines or place holders {Email}”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12DE029-67CC-70A8-CD5C-52323FD35D1B}"/>
              </a:ext>
            </a:extLst>
          </p:cNvPr>
          <p:cNvGrpSpPr/>
          <p:nvPr/>
        </p:nvGrpSpPr>
        <p:grpSpPr>
          <a:xfrm>
            <a:off x="13554873" y="3583954"/>
            <a:ext cx="3086099" cy="2974442"/>
            <a:chOff x="13554873" y="3583954"/>
            <a:chExt cx="3086099" cy="297444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AD1EF68-DB28-B651-8DCA-A5F432ED9CAD}"/>
                </a:ext>
              </a:extLst>
            </p:cNvPr>
            <p:cNvSpPr/>
            <p:nvPr/>
          </p:nvSpPr>
          <p:spPr>
            <a:xfrm>
              <a:off x="13554873" y="3728612"/>
              <a:ext cx="3086099" cy="282977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12800"/>
                <a:gd name="f4" fmla="val 745291"/>
                <a:gd name="f5" fmla="val 127941"/>
                <a:gd name="f6" fmla="val 684859"/>
                <a:gd name="f7" fmla="val 718791"/>
                <a:gd name="f8" fmla="val 751333"/>
                <a:gd name="f9" fmla="val 13479"/>
                <a:gd name="f10" fmla="val 775327"/>
                <a:gd name="f11" fmla="val 37473"/>
                <a:gd name="f12" fmla="val 799321"/>
                <a:gd name="f13" fmla="val 61467"/>
                <a:gd name="f14" fmla="val 94009"/>
                <a:gd name="f15" fmla="val 617351"/>
                <a:gd name="f16" fmla="val 651283"/>
                <a:gd name="f17" fmla="val 683825"/>
                <a:gd name="f18" fmla="val 707819"/>
                <a:gd name="f19" fmla="val 731812"/>
                <a:gd name="f20" fmla="*/ f0 1 812800"/>
                <a:gd name="f21" fmla="*/ f1 1 745291"/>
                <a:gd name="f22" fmla="val f2"/>
                <a:gd name="f23" fmla="val f3"/>
                <a:gd name="f24" fmla="val f4"/>
                <a:gd name="f25" fmla="+- f24 0 f22"/>
                <a:gd name="f26" fmla="+- f23 0 f22"/>
                <a:gd name="f27" fmla="*/ f26 1 812800"/>
                <a:gd name="f28" fmla="*/ f25 1 745291"/>
                <a:gd name="f29" fmla="*/ f22 1 f27"/>
                <a:gd name="f30" fmla="*/ f23 1 f27"/>
                <a:gd name="f31" fmla="*/ f22 1 f28"/>
                <a:gd name="f32" fmla="*/ f24 1 f28"/>
                <a:gd name="f33" fmla="*/ f29 f20 1"/>
                <a:gd name="f34" fmla="*/ f30 f20 1"/>
                <a:gd name="f35" fmla="*/ f32 f21 1"/>
                <a:gd name="f36" fmla="*/ f31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33" t="f36" r="f34" b="f35"/>
              <a:pathLst>
                <a:path w="812800" h="745291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8" y="f9"/>
                    <a:pt x="f10" y="f11"/>
                  </a:cubicBezTo>
                  <a:cubicBezTo>
                    <a:pt x="f12" y="f13"/>
                    <a:pt x="f3" y="f14"/>
                    <a:pt x="f3" y="f5"/>
                  </a:cubicBezTo>
                  <a:lnTo>
                    <a:pt x="f3" y="f15"/>
                  </a:lnTo>
                  <a:cubicBezTo>
                    <a:pt x="f3" y="f16"/>
                    <a:pt x="f12" y="f17"/>
                    <a:pt x="f10" y="f18"/>
                  </a:cubicBezTo>
                  <a:cubicBezTo>
                    <a:pt x="f8" y="f19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4" y="f4"/>
                    <a:pt x="f13" y="f19"/>
                    <a:pt x="f11" y="f18"/>
                  </a:cubicBezTo>
                  <a:cubicBezTo>
                    <a:pt x="f9" y="f17"/>
                    <a:pt x="f2" y="f16"/>
                    <a:pt x="f2" y="f15"/>
                  </a:cubicBezTo>
                  <a:lnTo>
                    <a:pt x="f2" y="f5"/>
                  </a:lnTo>
                  <a:cubicBezTo>
                    <a:pt x="f2" y="f14"/>
                    <a:pt x="f9" y="f13"/>
                    <a:pt x="f11" y="f11"/>
                  </a:cubicBezTo>
                  <a:cubicBezTo>
                    <a:pt x="f13" y="f9"/>
                    <a:pt x="f14" y="f2"/>
                    <a:pt x="f5" y="f2"/>
                  </a:cubicBezTo>
                  <a:close/>
                </a:path>
              </a:pathLst>
            </a:custGeom>
            <a:solidFill>
              <a:srgbClr val="C6D9F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61C9918-53CC-B726-A297-CFF1B38CF1F8}"/>
                </a:ext>
              </a:extLst>
            </p:cNvPr>
            <p:cNvSpPr txBox="1"/>
            <p:nvPr/>
          </p:nvSpPr>
          <p:spPr>
            <a:xfrm>
              <a:off x="13554873" y="3583954"/>
              <a:ext cx="3086099" cy="297444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00"/>
                  </a:solidFill>
                  <a:uFillTx/>
                  <a:latin typeface="Canva Sans"/>
                  <a:ea typeface="Canva Sans"/>
                  <a:cs typeface="Canva Sans"/>
                </a:rPr>
                <a:t>Synthetic Reply Dataset Generated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6A3D461E-95BB-4017-858F-A7A66F10E415}"/>
              </a:ext>
            </a:extLst>
          </p:cNvPr>
          <p:cNvSpPr txBox="1"/>
          <p:nvPr/>
        </p:nvSpPr>
        <p:spPr>
          <a:xfrm>
            <a:off x="4597036" y="445395"/>
            <a:ext cx="8871380" cy="13190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46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Reply Generation</a:t>
            </a:r>
          </a:p>
          <a:p>
            <a:pPr marL="0" marR="0" lvl="0" indent="0" algn="ctr" defTabSz="914400" rtl="0" fontAlgn="auto" hangingPunct="1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899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(DATASET)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966A1F3B-634E-4F48-5A64-712AFCEFDBF1}"/>
              </a:ext>
            </a:extLst>
          </p:cNvPr>
          <p:cNvSpPr/>
          <p:nvPr/>
        </p:nvSpPr>
        <p:spPr>
          <a:xfrm>
            <a:off x="4390839" y="5162080"/>
            <a:ext cx="1061499" cy="929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tailEnd type="arrow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C8702FE-32DD-EA80-6329-DC93C1617DFB}"/>
              </a:ext>
            </a:extLst>
          </p:cNvPr>
          <p:cNvSpPr/>
          <p:nvPr/>
        </p:nvSpPr>
        <p:spPr>
          <a:xfrm>
            <a:off x="11781157" y="5143499"/>
            <a:ext cx="1773716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8103" cap="flat">
            <a:solidFill>
              <a:srgbClr val="4F81BD"/>
            </a:solidFill>
            <a:prstDash val="solid"/>
            <a:tailEnd type="arrow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6E8AEA0-86AB-59C7-D60C-A0806FA0A6CB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Ghanibhuti Gogoi</a:t>
            </a: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A413ABB-8541-19BF-3B5D-9489DD32EC90}"/>
              </a:ext>
            </a:extLst>
          </p:cNvPr>
          <p:cNvSpPr txBox="1"/>
          <p:nvPr/>
        </p:nvSpPr>
        <p:spPr>
          <a:xfrm>
            <a:off x="3885239" y="346886"/>
            <a:ext cx="10517520" cy="172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46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Data Augmentation Strategies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D77C57A-1F7E-F7FA-543C-8944F801795B}"/>
              </a:ext>
            </a:extLst>
          </p:cNvPr>
          <p:cNvSpPr txBox="1"/>
          <p:nvPr/>
        </p:nvSpPr>
        <p:spPr>
          <a:xfrm>
            <a:off x="3214381" y="2834164"/>
            <a:ext cx="11859228" cy="262325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We apply a simple and lightweight data augmentation:</a:t>
            </a:r>
          </a:p>
          <a:p>
            <a:pPr marL="533707" marR="0" lvl="1" indent="-266858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Synonym Replacement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 — replace up to n non-stopwords with WordNet synonyms</a:t>
            </a:r>
          </a:p>
          <a:p>
            <a:pPr marL="533707" marR="0" lvl="1" indent="-266858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Random Deletion 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— remove each word with probability p</a:t>
            </a:r>
          </a:p>
          <a:p>
            <a:pPr marL="533707" marR="0" lvl="1" indent="-266858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Random Combination 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— randomly choose synonym / deletion / both</a:t>
            </a:r>
          </a:p>
          <a:p>
            <a:pPr marL="0" marR="0" lvl="0" indent="0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72" b="0" i="0" u="none" strike="noStrike" kern="1200" cap="none" spc="27" baseline="0">
              <a:solidFill>
                <a:srgbClr val="1E396E"/>
              </a:solidFill>
              <a:uFillTx/>
              <a:latin typeface="Raleway"/>
              <a:ea typeface="Raleway"/>
              <a:cs typeface="Raleway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D0AF6B-37D5-901B-45D6-6B4B472AD798}"/>
              </a:ext>
            </a:extLst>
          </p:cNvPr>
          <p:cNvSpPr/>
          <p:nvPr/>
        </p:nvSpPr>
        <p:spPr>
          <a:xfrm>
            <a:off x="-1818348" y="-754983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BF7DDF9-C3E3-1BB1-0E84-D8E21AA93869}"/>
              </a:ext>
            </a:extLst>
          </p:cNvPr>
          <p:cNvSpPr/>
          <p:nvPr/>
        </p:nvSpPr>
        <p:spPr>
          <a:xfrm>
            <a:off x="13995751" y="-141697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58BD7CA-8665-AFC1-8C36-23238228E223}"/>
              </a:ext>
            </a:extLst>
          </p:cNvPr>
          <p:cNvSpPr/>
          <p:nvPr/>
        </p:nvSpPr>
        <p:spPr>
          <a:xfrm>
            <a:off x="13468417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6076603-6A9D-35B5-70F4-6716A7E2B42D}"/>
              </a:ext>
            </a:extLst>
          </p:cNvPr>
          <p:cNvSpPr/>
          <p:nvPr/>
        </p:nvSpPr>
        <p:spPr>
          <a:xfrm flipH="1">
            <a:off x="-453414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A50CCCB-A3AD-712F-28E4-4D51531F3230}"/>
              </a:ext>
            </a:extLst>
          </p:cNvPr>
          <p:cNvSpPr/>
          <p:nvPr/>
        </p:nvSpPr>
        <p:spPr>
          <a:xfrm>
            <a:off x="4818805" y="821887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val 2442685"/>
              <a:gd name="f6" fmla="*/ f0 1 8924733"/>
              <a:gd name="f7" fmla="*/ f1 1 2442684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924733"/>
              <a:gd name="f14" fmla="*/ f11 1 2442684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A6223A-A72D-7CB2-BC56-78A17ADEBFCC}"/>
              </a:ext>
            </a:extLst>
          </p:cNvPr>
          <p:cNvSpPr txBox="1"/>
          <p:nvPr/>
        </p:nvSpPr>
        <p:spPr>
          <a:xfrm>
            <a:off x="3214381" y="5573002"/>
            <a:ext cx="11859228" cy="17469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Augmentation Modes:</a:t>
            </a:r>
          </a:p>
          <a:p>
            <a:pPr marL="533707" marR="0" lvl="1" indent="-266858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spam: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 augment only the </a:t>
            </a: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Message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 field in enron_spam_data.csv</a:t>
            </a:r>
          </a:p>
          <a:p>
            <a:pPr marL="533707" marR="0" lvl="1" indent="-266858" algn="l" defTabSz="914400" rtl="0" fontAlgn="auto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reply: 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augment only the incoming </a:t>
            </a:r>
            <a:r>
              <a:rPr lang="en-US" sz="2472" b="1" i="0" u="none" strike="noStrike" kern="1200" cap="none" spc="27" baseline="0">
                <a:solidFill>
                  <a:srgbClr val="1E396E"/>
                </a:solidFill>
                <a:uFillTx/>
                <a:latin typeface="Raleway Bold"/>
                <a:ea typeface="Raleway Bold"/>
                <a:cs typeface="Raleway Bold"/>
              </a:rPr>
              <a:t>Message</a:t>
            </a:r>
            <a:r>
              <a:rPr lang="en-US" sz="2472" b="0" i="0" u="none" strike="noStrike" kern="1200" cap="none" spc="27" baseline="0">
                <a:solidFill>
                  <a:srgbClr val="1E396E"/>
                </a:solidFill>
                <a:uFillTx/>
                <a:latin typeface="Raleway"/>
                <a:ea typeface="Raleway"/>
                <a:cs typeface="Raleway"/>
              </a:rPr>
              <a:t> (not the reply) for reply-generation dataset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CA1FE73-7327-4CE9-659C-8910D473E673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Siqi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9CAA7C6-7587-FD78-1924-720E1BD1F306}"/>
              </a:ext>
            </a:extLst>
          </p:cNvPr>
          <p:cNvSpPr txBox="1"/>
          <p:nvPr/>
        </p:nvSpPr>
        <p:spPr>
          <a:xfrm>
            <a:off x="3885239" y="346886"/>
            <a:ext cx="10517520" cy="172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46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Data Augmentation Evaluation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1BF6C94-3BE4-7EB9-23C1-9D0B5E5CF5BF}"/>
              </a:ext>
            </a:extLst>
          </p:cNvPr>
          <p:cNvSpPr/>
          <p:nvPr/>
        </p:nvSpPr>
        <p:spPr>
          <a:xfrm>
            <a:off x="-1949107" y="-1028700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8312281-EC1D-7127-2500-E278ED4FB41D}"/>
              </a:ext>
            </a:extLst>
          </p:cNvPr>
          <p:cNvSpPr/>
          <p:nvPr/>
        </p:nvSpPr>
        <p:spPr>
          <a:xfrm>
            <a:off x="14291404" y="-1690689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val 5438772"/>
              <a:gd name="f6" fmla="*/ f0 1 5290443"/>
              <a:gd name="f7" fmla="*/ f1 1 5438773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5290443"/>
              <a:gd name="f14" fmla="*/ f11 1 5438773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2CB1713-9304-B33C-D959-AF776256E435}"/>
              </a:ext>
            </a:extLst>
          </p:cNvPr>
          <p:cNvSpPr/>
          <p:nvPr/>
        </p:nvSpPr>
        <p:spPr>
          <a:xfrm>
            <a:off x="13468417" y="7307345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val 3516630"/>
              <a:gd name="f6" fmla="*/ f0 1 5272220"/>
              <a:gd name="f7" fmla="*/ f1 1 3516631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5272220"/>
              <a:gd name="f14" fmla="*/ f11 1 3516631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F866AF-F9EB-07C8-6F29-5B7578A4AF9C}"/>
              </a:ext>
            </a:extLst>
          </p:cNvPr>
          <p:cNvSpPr/>
          <p:nvPr/>
        </p:nvSpPr>
        <p:spPr>
          <a:xfrm flipH="1">
            <a:off x="-453414" y="7186781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val 3516630"/>
              <a:gd name="f6" fmla="*/ f0 1 5272220"/>
              <a:gd name="f7" fmla="*/ f1 1 3516631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5272220"/>
              <a:gd name="f14" fmla="*/ f11 1 3516631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0766217-7ABF-41D0-AAF6-7C1272C77CC8}"/>
              </a:ext>
            </a:extLst>
          </p:cNvPr>
          <p:cNvSpPr/>
          <p:nvPr/>
        </p:nvSpPr>
        <p:spPr>
          <a:xfrm>
            <a:off x="4818805" y="906565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*/ f0 1 8924733"/>
              <a:gd name="f6" fmla="*/ f1 1 244268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8924733"/>
              <a:gd name="f13" fmla="*/ f10 1 244268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E0B4D7C-E54D-E545-2EA6-24C06790FC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7612" y="1955234"/>
            <a:ext cx="12340705" cy="80182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44B9B156-306C-0D42-8D6D-279CD7E90648}"/>
              </a:ext>
            </a:extLst>
          </p:cNvPr>
          <p:cNvSpPr txBox="1"/>
          <p:nvPr/>
        </p:nvSpPr>
        <p:spPr>
          <a:xfrm>
            <a:off x="7185016" y="2445782"/>
            <a:ext cx="3917975" cy="5378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spam classification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73B64E8A-C190-689B-63F3-7AF4C5463E09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Siqi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09C31D7-315B-D47C-2AA6-36C91DE67DF0}"/>
              </a:ext>
            </a:extLst>
          </p:cNvPr>
          <p:cNvSpPr txBox="1"/>
          <p:nvPr/>
        </p:nvSpPr>
        <p:spPr>
          <a:xfrm>
            <a:off x="3885239" y="346886"/>
            <a:ext cx="10517520" cy="172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846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Data Augmentation Evaluation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60BB179-BE3B-23F0-E9D2-1150342120F1}"/>
              </a:ext>
            </a:extLst>
          </p:cNvPr>
          <p:cNvSpPr/>
          <p:nvPr/>
        </p:nvSpPr>
        <p:spPr>
          <a:xfrm>
            <a:off x="-1578601" y="-504556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EE97A33-DBEA-18EF-64FB-1FAB94FE37D9}"/>
              </a:ext>
            </a:extLst>
          </p:cNvPr>
          <p:cNvSpPr/>
          <p:nvPr/>
        </p:nvSpPr>
        <p:spPr>
          <a:xfrm>
            <a:off x="13995751" y="-141697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86481DD-3080-13E0-3841-8B705AC95F5A}"/>
              </a:ext>
            </a:extLst>
          </p:cNvPr>
          <p:cNvSpPr/>
          <p:nvPr/>
        </p:nvSpPr>
        <p:spPr>
          <a:xfrm>
            <a:off x="13468417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7">
              <a:alphaModFix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1E15C6-8263-A823-2166-3040A8703F84}"/>
              </a:ext>
            </a:extLst>
          </p:cNvPr>
          <p:cNvSpPr/>
          <p:nvPr/>
        </p:nvSpPr>
        <p:spPr>
          <a:xfrm flipH="1">
            <a:off x="-472461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7">
              <a:alphaModFix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C709FCA-C98F-BD5B-65AD-B1E7AFB6E3F1}"/>
              </a:ext>
            </a:extLst>
          </p:cNvPr>
          <p:cNvSpPr/>
          <p:nvPr/>
        </p:nvSpPr>
        <p:spPr>
          <a:xfrm>
            <a:off x="4818805" y="821887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val 2442685"/>
              <a:gd name="f6" fmla="*/ f0 1 8924733"/>
              <a:gd name="f7" fmla="*/ f1 1 2442684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924733"/>
              <a:gd name="f14" fmla="*/ f11 1 2442684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9">
              <a:alphaModFix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61DE1878-E415-80B4-CB9C-1A27ECE097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4462" y="1859917"/>
            <a:ext cx="13275643" cy="788522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B6841C4E-1750-5CB3-28C7-12575DC073BE}"/>
              </a:ext>
            </a:extLst>
          </p:cNvPr>
          <p:cNvSpPr txBox="1"/>
          <p:nvPr/>
        </p:nvSpPr>
        <p:spPr>
          <a:xfrm>
            <a:off x="7263335" y="2043519"/>
            <a:ext cx="5239045" cy="5271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reply generation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830B1A0D-4265-6979-8988-240AB29CF36F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Siqi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9F003EB-50A0-FA2D-476D-16F46062F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85" y="2731431"/>
            <a:ext cx="10267093" cy="62721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F3D08A2-9E3D-71C7-8BF2-A6E7298A2560}"/>
              </a:ext>
            </a:extLst>
          </p:cNvPr>
          <p:cNvSpPr/>
          <p:nvPr/>
        </p:nvSpPr>
        <p:spPr>
          <a:xfrm>
            <a:off x="15642777" y="-89461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val 5290442"/>
              <a:gd name="f6" fmla="*/ f0 1 5290443"/>
              <a:gd name="f7" fmla="*/ f1 1 5438773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5290443"/>
              <a:gd name="f14" fmla="*/ f11 1 5438773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5290443" h="5438773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74CE7D-2B6D-549C-6505-0B72B2B5BF66}"/>
              </a:ext>
            </a:extLst>
          </p:cNvPr>
          <p:cNvSpPr txBox="1"/>
          <p:nvPr/>
        </p:nvSpPr>
        <p:spPr>
          <a:xfrm>
            <a:off x="-826498" y="190862"/>
            <a:ext cx="17003322" cy="7140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53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Few shot/Few-shot/Fine-tuned experiment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908C15F-8EC2-C791-21F6-9D9F14CC2AF5}"/>
              </a:ext>
            </a:extLst>
          </p:cNvPr>
          <p:cNvSpPr txBox="1"/>
          <p:nvPr/>
        </p:nvSpPr>
        <p:spPr>
          <a:xfrm>
            <a:off x="3974695" y="9006501"/>
            <a:ext cx="1576361" cy="406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31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65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Zero-shot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3D24EAD-49EB-B674-B314-6FCE65DB6026}"/>
              </a:ext>
            </a:extLst>
          </p:cNvPr>
          <p:cNvSpPr txBox="1"/>
          <p:nvPr/>
        </p:nvSpPr>
        <p:spPr>
          <a:xfrm>
            <a:off x="7273457" y="9030440"/>
            <a:ext cx="1576361" cy="406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31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65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Few-shot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01E6AEB-5801-E0DB-42A1-17C2C9E75F3D}"/>
              </a:ext>
            </a:extLst>
          </p:cNvPr>
          <p:cNvSpPr txBox="1"/>
          <p:nvPr/>
        </p:nvSpPr>
        <p:spPr>
          <a:xfrm>
            <a:off x="12106674" y="9006501"/>
            <a:ext cx="1708035" cy="406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31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65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Fine-tuned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1898871-4345-0B63-FC82-B9BD70C644B9}"/>
              </a:ext>
            </a:extLst>
          </p:cNvPr>
          <p:cNvSpPr/>
          <p:nvPr/>
        </p:nvSpPr>
        <p:spPr>
          <a:xfrm flipV="1">
            <a:off x="5551057" y="2571484"/>
            <a:ext cx="0" cy="696745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8103" cap="flat">
            <a:solidFill>
              <a:srgbClr val="FF0000"/>
            </a:solidFill>
            <a:custDash>
              <a:ds d="299976" sp="299976"/>
            </a:custDash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93B1C06-F93F-F0DF-DF6C-F9FB7C64800D}"/>
              </a:ext>
            </a:extLst>
          </p:cNvPr>
          <p:cNvSpPr/>
          <p:nvPr/>
        </p:nvSpPr>
        <p:spPr>
          <a:xfrm flipV="1">
            <a:off x="11078806" y="2571484"/>
            <a:ext cx="0" cy="696745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8103" cap="flat">
            <a:solidFill>
              <a:srgbClr val="FF0000"/>
            </a:solidFill>
            <a:custDash>
              <a:ds d="299976" sp="299976"/>
            </a:custDash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A57D3E-06EB-E4BC-B031-75303F33A4F4}"/>
              </a:ext>
            </a:extLst>
          </p:cNvPr>
          <p:cNvSpPr txBox="1"/>
          <p:nvPr/>
        </p:nvSpPr>
        <p:spPr>
          <a:xfrm>
            <a:off x="15229679" y="7643176"/>
            <a:ext cx="2460504" cy="7095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289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65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The size of our whole training set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F63C38F-245B-E15A-532A-384ADD876A02}"/>
              </a:ext>
            </a:extLst>
          </p:cNvPr>
          <p:cNvGrpSpPr/>
          <p:nvPr/>
        </p:nvGrpSpPr>
        <p:grpSpPr>
          <a:xfrm>
            <a:off x="13609428" y="8073301"/>
            <a:ext cx="1355184" cy="347060"/>
            <a:chOff x="13609428" y="8073301"/>
            <a:chExt cx="1355184" cy="3470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CE64730-E7A4-DCF8-9ECD-07AF0916F942}"/>
                </a:ext>
              </a:extLst>
            </p:cNvPr>
            <p:cNvSpPr/>
            <p:nvPr/>
          </p:nvSpPr>
          <p:spPr>
            <a:xfrm rot="20643291">
              <a:off x="13612736" y="8073301"/>
              <a:ext cx="1351876" cy="3470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870685"/>
                <a:gd name="f4" fmla="val 480258"/>
                <a:gd name="f5" fmla="val 240129"/>
                <a:gd name="f6" fmla="val 1464285"/>
                <a:gd name="f7" fmla="val 203200"/>
                <a:gd name="f8" fmla="val 277058"/>
                <a:gd name="f9" fmla="*/ f0 1 1870685"/>
                <a:gd name="f10" fmla="*/ f1 1 480258"/>
                <a:gd name="f11" fmla="val f2"/>
                <a:gd name="f12" fmla="val f3"/>
                <a:gd name="f13" fmla="val f4"/>
                <a:gd name="f14" fmla="+- f13 0 f11"/>
                <a:gd name="f15" fmla="+- f12 0 f11"/>
                <a:gd name="f16" fmla="*/ f15 1 1870685"/>
                <a:gd name="f17" fmla="*/ f14 1 480258"/>
                <a:gd name="f18" fmla="*/ f11 1 f16"/>
                <a:gd name="f19" fmla="*/ f12 1 f16"/>
                <a:gd name="f20" fmla="*/ f11 1 f17"/>
                <a:gd name="f21" fmla="*/ f13 1 f17"/>
                <a:gd name="f22" fmla="*/ f18 f9 1"/>
                <a:gd name="f23" fmla="*/ f19 f9 1"/>
                <a:gd name="f24" fmla="*/ f21 f10 1"/>
                <a:gd name="f25" fmla="*/ f2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25" r="f23" b="f24"/>
              <a:pathLst>
                <a:path w="1870685" h="480258">
                  <a:moveTo>
                    <a:pt x="f3" y="f5"/>
                  </a:moveTo>
                  <a:lnTo>
                    <a:pt x="f6" y="f2"/>
                  </a:lnTo>
                  <a:lnTo>
                    <a:pt x="f6" y="f7"/>
                  </a:lnTo>
                  <a:lnTo>
                    <a:pt x="f2" y="f7"/>
                  </a:lnTo>
                  <a:lnTo>
                    <a:pt x="f2" y="f8"/>
                  </a:lnTo>
                  <a:lnTo>
                    <a:pt x="f6" y="f8"/>
                  </a:lnTo>
                  <a:lnTo>
                    <a:pt x="f6" y="f4"/>
                  </a:lnTo>
                  <a:lnTo>
                    <a:pt x="f3" y="f5"/>
                  </a:lnTo>
                  <a:close/>
                </a:path>
              </a:pathLst>
            </a:custGeom>
            <a:solidFill>
              <a:srgbClr val="FF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3B4997B-FA84-24DD-8498-4489B4D63E4A}"/>
                </a:ext>
              </a:extLst>
            </p:cNvPr>
            <p:cNvSpPr txBox="1"/>
            <p:nvPr/>
          </p:nvSpPr>
          <p:spPr>
            <a:xfrm rot="20643291">
              <a:off x="13609428" y="8196487"/>
              <a:ext cx="1278450" cy="8779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331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zh-CN" alt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8C0E106-337C-0FFA-E831-2A3CB8AF9E2D}"/>
              </a:ext>
            </a:extLst>
          </p:cNvPr>
          <p:cNvGrpSpPr/>
          <p:nvPr/>
        </p:nvGrpSpPr>
        <p:grpSpPr>
          <a:xfrm>
            <a:off x="12608561" y="8140327"/>
            <a:ext cx="698665" cy="698665"/>
            <a:chOff x="12608561" y="8140327"/>
            <a:chExt cx="698665" cy="69866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E06E18E-58F9-FD72-FEA6-F188E32F0715}"/>
                </a:ext>
              </a:extLst>
            </p:cNvPr>
            <p:cNvSpPr/>
            <p:nvPr/>
          </p:nvSpPr>
          <p:spPr>
            <a:xfrm>
              <a:off x="12608561" y="8140327"/>
              <a:ext cx="698665" cy="69866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12800"/>
                <a:gd name="f4" fmla="val 406400"/>
                <a:gd name="f5" fmla="val 181951"/>
                <a:gd name="f6" fmla="val 630849"/>
                <a:gd name="f7" fmla="*/ f0 1 812800"/>
                <a:gd name="f8" fmla="*/ f1 1 812800"/>
                <a:gd name="f9" fmla="val f2"/>
                <a:gd name="f10" fmla="val f3"/>
                <a:gd name="f11" fmla="+- f10 0 f9"/>
                <a:gd name="f12" fmla="*/ f11 1 812800"/>
                <a:gd name="f13" fmla="*/ f9 1 f12"/>
                <a:gd name="f14" fmla="*/ f10 1 f12"/>
                <a:gd name="f15" fmla="*/ f13 f7 1"/>
                <a:gd name="f16" fmla="*/ f14 f7 1"/>
                <a:gd name="f17" fmla="*/ f14 f8 1"/>
                <a:gd name="f18" fmla="*/ f1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5" t="f18" r="f16" b="f17"/>
              <a:pathLst>
                <a:path w="812800" h="812800">
                  <a:moveTo>
                    <a:pt x="f4" y="f2"/>
                  </a:moveTo>
                  <a:cubicBezTo>
                    <a:pt x="f5" y="f2"/>
                    <a:pt x="f2" y="f5"/>
                    <a:pt x="f2" y="f4"/>
                  </a:cubicBezTo>
                  <a:cubicBezTo>
                    <a:pt x="f2" y="f6"/>
                    <a:pt x="f5" y="f3"/>
                    <a:pt x="f4" y="f3"/>
                  </a:cubicBezTo>
                  <a:cubicBezTo>
                    <a:pt x="f6" y="f3"/>
                    <a:pt x="f3" y="f6"/>
                    <a:pt x="f3" y="f4"/>
                  </a:cubicBezTo>
                  <a:cubicBezTo>
                    <a:pt x="f3" y="f5"/>
                    <a:pt x="f6" y="f2"/>
                    <a:pt x="f4" y="f2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3" cap="sq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宋体" pitchFamily="2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17B2159-BA11-E514-197E-7DFE51B15F3F}"/>
                </a:ext>
              </a:extLst>
            </p:cNvPr>
            <p:cNvSpPr txBox="1"/>
            <p:nvPr/>
          </p:nvSpPr>
          <p:spPr>
            <a:xfrm>
              <a:off x="12674059" y="8164897"/>
              <a:ext cx="567668" cy="6086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50804" tIns="50804" rIns="50804" bIns="50804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ts val="331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zh-CN" alt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93D08019-BB97-33B9-F0FC-A8503D46AC13}"/>
              </a:ext>
            </a:extLst>
          </p:cNvPr>
          <p:cNvSpPr txBox="1"/>
          <p:nvPr/>
        </p:nvSpPr>
        <p:spPr>
          <a:xfrm>
            <a:off x="1079019" y="1095378"/>
            <a:ext cx="9873508" cy="4062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147" b="1" i="1" u="none" strike="noStrike" kern="1200" cap="none" spc="0" baseline="0">
                <a:solidFill>
                  <a:srgbClr val="1E396E"/>
                </a:solidFill>
                <a:uFillTx/>
                <a:latin typeface="Open Sauce Bold Italics"/>
                <a:ea typeface="Open Sauce Bold Italics"/>
                <a:cs typeface="Open Sauce Bold Italics"/>
              </a:rPr>
              <a:t>For Classification Model (Fix seed for sampling)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E1578E0-E612-7EC1-64EB-9A57F627541C}"/>
              </a:ext>
            </a:extLst>
          </p:cNvPr>
          <p:cNvSpPr txBox="1"/>
          <p:nvPr/>
        </p:nvSpPr>
        <p:spPr>
          <a:xfrm>
            <a:off x="8762887" y="9229002"/>
            <a:ext cx="3204697" cy="2320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65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* Scaling experiments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7294884-8E87-9D0C-19F6-DE15276A17CE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Yuhan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7CBED1-36A0-C222-34B8-EE024AF9F331}"/>
              </a:ext>
            </a:extLst>
          </p:cNvPr>
          <p:cNvSpPr/>
          <p:nvPr/>
        </p:nvSpPr>
        <p:spPr>
          <a:xfrm>
            <a:off x="14286942" y="-1454225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93DEE8B-EEBC-4B6A-AF01-EDA3418DF1AD}"/>
              </a:ext>
            </a:extLst>
          </p:cNvPr>
          <p:cNvSpPr txBox="1"/>
          <p:nvPr/>
        </p:nvSpPr>
        <p:spPr>
          <a:xfrm>
            <a:off x="-654125" y="225445"/>
            <a:ext cx="12086950" cy="5651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421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47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Zero-shot/Fine-tuned experiment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07680B-0DFB-684C-9852-21934892C287}"/>
              </a:ext>
            </a:extLst>
          </p:cNvPr>
          <p:cNvSpPr txBox="1"/>
          <p:nvPr/>
        </p:nvSpPr>
        <p:spPr>
          <a:xfrm>
            <a:off x="1079019" y="1095378"/>
            <a:ext cx="5034238" cy="4062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147" b="1" i="1" u="none" strike="noStrike" kern="1200" cap="none" spc="0" baseline="0">
                <a:solidFill>
                  <a:srgbClr val="1E396E"/>
                </a:solidFill>
                <a:uFillTx/>
                <a:latin typeface="Open Sauce Bold Italics"/>
                <a:ea typeface="Open Sauce Bold Italics"/>
                <a:cs typeface="Open Sauce Bold Italics"/>
              </a:rPr>
              <a:t>For Generation Model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DC5A977-1234-C4B8-183B-F266B212A21E}"/>
              </a:ext>
            </a:extLst>
          </p:cNvPr>
          <p:cNvSpPr txBox="1"/>
          <p:nvPr/>
        </p:nvSpPr>
        <p:spPr>
          <a:xfrm>
            <a:off x="2606" y="9545275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Yuhan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  <p:pic>
        <p:nvPicPr>
          <p:cNvPr id="6" name="图片 4" descr="图表, 条形图&#10;&#10;AI 生成的内容可能不正确。">
            <a:extLst>
              <a:ext uri="{FF2B5EF4-FFF2-40B4-BE49-F238E27FC236}">
                <a16:creationId xmlns:a16="http://schemas.microsoft.com/office/drawing/2014/main" id="{D33A2BEE-DF64-AF88-F160-506D052F1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4" y="1883691"/>
            <a:ext cx="13430250" cy="697229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40CF7E-6EE3-AB3D-F3D6-3F20451B58BD}"/>
              </a:ext>
            </a:extLst>
          </p:cNvPr>
          <p:cNvSpPr/>
          <p:nvPr/>
        </p:nvSpPr>
        <p:spPr>
          <a:xfrm>
            <a:off x="16193740" y="-2720513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val 5290442"/>
              <a:gd name="f6" fmla="val 5438772"/>
              <a:gd name="f7" fmla="*/ f0 1 5290443"/>
              <a:gd name="f8" fmla="*/ f1 1 5438773"/>
              <a:gd name="f9" fmla="val f2"/>
              <a:gd name="f10" fmla="val f3"/>
              <a:gd name="f11" fmla="val f4"/>
              <a:gd name="f12" fmla="+- f11 0 f9"/>
              <a:gd name="f13" fmla="+- f10 0 f9"/>
              <a:gd name="f14" fmla="*/ f13 1 5290443"/>
              <a:gd name="f15" fmla="*/ f12 1 5438773"/>
              <a:gd name="f16" fmla="*/ f9 1 f14"/>
              <a:gd name="f17" fmla="*/ f10 1 f14"/>
              <a:gd name="f18" fmla="*/ f9 1 f15"/>
              <a:gd name="f19" fmla="*/ f11 1 f15"/>
              <a:gd name="f20" fmla="*/ f16 f7 1"/>
              <a:gd name="f21" fmla="*/ f17 f7 1"/>
              <a:gd name="f22" fmla="*/ f19 f8 1"/>
              <a:gd name="f23" fmla="*/ f18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0" t="f23" r="f21" b="f22"/>
            <a:pathLst>
              <a:path w="5290443" h="5438773">
                <a:moveTo>
                  <a:pt x="f2" y="f2"/>
                </a:moveTo>
                <a:lnTo>
                  <a:pt x="f5" y="f2"/>
                </a:lnTo>
                <a:lnTo>
                  <a:pt x="f5" y="f6"/>
                </a:lnTo>
                <a:lnTo>
                  <a:pt x="f2" y="f6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82912BC-3059-7DDB-B74F-6C96DC92F245}"/>
              </a:ext>
            </a:extLst>
          </p:cNvPr>
          <p:cNvSpPr txBox="1"/>
          <p:nvPr/>
        </p:nvSpPr>
        <p:spPr>
          <a:xfrm>
            <a:off x="-1585176" y="238420"/>
            <a:ext cx="12086950" cy="5651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421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47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Lora/ Full-precision fine-tuning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C0BE082-4E58-C24B-149E-78A52F9E94F3}"/>
              </a:ext>
            </a:extLst>
          </p:cNvPr>
          <p:cNvSpPr txBox="1"/>
          <p:nvPr/>
        </p:nvSpPr>
        <p:spPr>
          <a:xfrm>
            <a:off x="405289" y="1091144"/>
            <a:ext cx="5034238" cy="4062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147" b="1" i="1" u="none" strike="noStrike" kern="1200" cap="none" spc="0" baseline="0">
                <a:solidFill>
                  <a:srgbClr val="1E396E"/>
                </a:solidFill>
                <a:uFillTx/>
                <a:latin typeface="Open Sauce Bold Italics"/>
                <a:ea typeface="Open Sauce Bold Italics"/>
                <a:cs typeface="Open Sauce Bold Italics"/>
              </a:rPr>
              <a:t>Memory usage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7578DAE-04C7-3BF5-BDE3-9F6579B16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0802" y="1733473"/>
            <a:ext cx="9201095" cy="90560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018A797-06E2-3941-C2E1-AE23F2506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1458" y="1707148"/>
            <a:ext cx="9517029" cy="920998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18419E41-770E-5FCE-7D33-16E65ADC1D05}"/>
              </a:ext>
            </a:extLst>
          </p:cNvPr>
          <p:cNvSpPr txBox="1"/>
          <p:nvPr/>
        </p:nvSpPr>
        <p:spPr>
          <a:xfrm>
            <a:off x="4759516" y="956306"/>
            <a:ext cx="4384483" cy="411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92" b="0" i="1" u="none" strike="noStrike" kern="1200" cap="none" spc="0" baseline="0">
                <a:solidFill>
                  <a:srgbClr val="1E396E"/>
                </a:solidFill>
                <a:uFillTx/>
                <a:latin typeface="Open Sauce Italics"/>
                <a:ea typeface="Open Sauce Italics"/>
                <a:cs typeface="Open Sauce Italics"/>
              </a:rPr>
              <a:t>* Hardware status:</a:t>
            </a:r>
          </a:p>
          <a:p>
            <a:pPr marL="0" marR="0" lvl="0" indent="0" algn="l" defTabSz="914400" rtl="0" fontAlgn="auto" hangingPunct="1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92" b="0" i="1" u="none" strike="noStrike" kern="1200" cap="none" spc="0" baseline="0">
                <a:solidFill>
                  <a:srgbClr val="1E396E"/>
                </a:solidFill>
                <a:uFillTx/>
                <a:latin typeface="Open Sauce Italics"/>
                <a:ea typeface="Open Sauce Italics"/>
                <a:cs typeface="Open Sauce Italics"/>
              </a:rPr>
              <a:t>GPU: T4 x 2 (15360MB x2)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49FD365-C2FF-BA87-6445-411EACC238FE}"/>
              </a:ext>
            </a:extLst>
          </p:cNvPr>
          <p:cNvSpPr txBox="1"/>
          <p:nvPr/>
        </p:nvSpPr>
        <p:spPr>
          <a:xfrm>
            <a:off x="184498" y="2012192"/>
            <a:ext cx="10202984" cy="2113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365467" marR="0" lvl="1" indent="-182733" algn="l" defTabSz="914400" rtl="0" fontAlgn="auto" hangingPunct="1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92" b="0" i="1" u="none" strike="noStrike" kern="1200" cap="none" spc="0" baseline="0">
                <a:solidFill>
                  <a:srgbClr val="1E396E"/>
                </a:solidFill>
                <a:uFillTx/>
                <a:latin typeface="Open Sauce Italics"/>
                <a:ea typeface="Open Sauce Italics"/>
                <a:cs typeface="Open Sauce Italics"/>
              </a:rPr>
              <a:t>T</a:t>
            </a:r>
            <a:r>
              <a:rPr lang="en-US" sz="1692" b="0" i="0" u="none" strike="noStrike" kern="1200" cap="none" spc="0" baseline="0">
                <a:solidFill>
                  <a:srgbClr val="1E396E"/>
                </a:solidFill>
                <a:uFillTx/>
                <a:latin typeface="Open Sauce"/>
                <a:ea typeface="Open Sauce"/>
                <a:cs typeface="Open Sauce"/>
              </a:rPr>
              <a:t>he way we calculate total GPU Memory usage is to sum the memory usage on each GPU.</a:t>
            </a:r>
          </a:p>
        </p:txBody>
      </p:sp>
      <p:pic>
        <p:nvPicPr>
          <p:cNvPr id="9" name="图片 9" descr="Decrease Generic Flat icon | Freepik">
            <a:extLst>
              <a:ext uri="{FF2B5EF4-FFF2-40B4-BE49-F238E27FC236}">
                <a16:creationId xmlns:a16="http://schemas.microsoft.com/office/drawing/2014/main" id="{4A7382CF-F2B7-DDD6-A16A-425152C72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152" y="4200122"/>
            <a:ext cx="1470144" cy="15342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图片 10" descr="Decrease Generic Flat icon | Freepik">
            <a:extLst>
              <a:ext uri="{FF2B5EF4-FFF2-40B4-BE49-F238E27FC236}">
                <a16:creationId xmlns:a16="http://schemas.microsoft.com/office/drawing/2014/main" id="{CAC82132-8841-B192-9BA3-E10436410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2362" y="7682532"/>
            <a:ext cx="1512874" cy="14701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图片 11" descr="Decrease Generic Flat icon | Freepik">
            <a:extLst>
              <a:ext uri="{FF2B5EF4-FFF2-40B4-BE49-F238E27FC236}">
                <a16:creationId xmlns:a16="http://schemas.microsoft.com/office/drawing/2014/main" id="{39ACF464-1DD2-AA13-C69C-693B04E53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24512" y="3666012"/>
            <a:ext cx="1512874" cy="14701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图片 12" descr="Decrease Generic Flat icon | Freepik">
            <a:extLst>
              <a:ext uri="{FF2B5EF4-FFF2-40B4-BE49-F238E27FC236}">
                <a16:creationId xmlns:a16="http://schemas.microsoft.com/office/drawing/2014/main" id="{D3E4CF52-FF9D-108F-F467-5FAE17D0C2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0942" y="7682532"/>
            <a:ext cx="1512874" cy="147014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文本框 13">
            <a:extLst>
              <a:ext uri="{FF2B5EF4-FFF2-40B4-BE49-F238E27FC236}">
                <a16:creationId xmlns:a16="http://schemas.microsoft.com/office/drawing/2014/main" id="{89944874-D256-7CDB-CC29-3CAB580EE61A}"/>
              </a:ext>
            </a:extLst>
          </p:cNvPr>
          <p:cNvSpPr txBox="1"/>
          <p:nvPr/>
        </p:nvSpPr>
        <p:spPr>
          <a:xfrm>
            <a:off x="4782906" y="3733751"/>
            <a:ext cx="146999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宋体"/>
                <a:cs typeface="Calibri"/>
              </a:rPr>
              <a:t>36%</a:t>
            </a:r>
            <a:endParaRPr lang="en-US" sz="24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4" name="文本框 14">
            <a:extLst>
              <a:ext uri="{FF2B5EF4-FFF2-40B4-BE49-F238E27FC236}">
                <a16:creationId xmlns:a16="http://schemas.microsoft.com/office/drawing/2014/main" id="{86246AC4-61C9-5FEA-8960-86B1D5789BCB}"/>
              </a:ext>
            </a:extLst>
          </p:cNvPr>
          <p:cNvSpPr txBox="1"/>
          <p:nvPr/>
        </p:nvSpPr>
        <p:spPr>
          <a:xfrm>
            <a:off x="6662985" y="7451171"/>
            <a:ext cx="146999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宋体"/>
                <a:cs typeface="Calibri"/>
              </a:rPr>
              <a:t>42%</a:t>
            </a:r>
            <a:endParaRPr lang="en-US" sz="24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C2A48C17-6D94-15DE-DCC4-85445E59FD3F}"/>
              </a:ext>
            </a:extLst>
          </p:cNvPr>
          <p:cNvSpPr txBox="1"/>
          <p:nvPr/>
        </p:nvSpPr>
        <p:spPr>
          <a:xfrm>
            <a:off x="14898986" y="3285100"/>
            <a:ext cx="146999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宋体"/>
                <a:cs typeface="Calibri"/>
              </a:rPr>
              <a:t>32%</a:t>
            </a:r>
            <a:endParaRPr lang="en-US" sz="24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CF5FCFBC-FBB9-348B-0AE4-E876DE54B637}"/>
              </a:ext>
            </a:extLst>
          </p:cNvPr>
          <p:cNvSpPr txBox="1"/>
          <p:nvPr/>
        </p:nvSpPr>
        <p:spPr>
          <a:xfrm>
            <a:off x="16554736" y="7451180"/>
            <a:ext cx="146999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宋体"/>
                <a:cs typeface="Calibri"/>
              </a:rPr>
              <a:t>22%</a:t>
            </a:r>
            <a:endParaRPr lang="en-US" sz="24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2BE615A-03F3-C5CC-624D-6682DDE6F982}"/>
              </a:ext>
            </a:extLst>
          </p:cNvPr>
          <p:cNvSpPr txBox="1"/>
          <p:nvPr/>
        </p:nvSpPr>
        <p:spPr>
          <a:xfrm>
            <a:off x="12009683" y="717310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Yuhan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1700DA-D8F1-9C50-E54E-91174CAAC9E6}"/>
              </a:ext>
            </a:extLst>
          </p:cNvPr>
          <p:cNvSpPr/>
          <p:nvPr/>
        </p:nvSpPr>
        <p:spPr>
          <a:xfrm>
            <a:off x="16086325" y="-2721711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81F036C-332E-F2C8-D24F-FC6F94948A0E}"/>
              </a:ext>
            </a:extLst>
          </p:cNvPr>
          <p:cNvSpPr txBox="1"/>
          <p:nvPr/>
        </p:nvSpPr>
        <p:spPr>
          <a:xfrm>
            <a:off x="-1348758" y="339745"/>
            <a:ext cx="12086950" cy="5651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421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347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Lora/ Full-precision fine-tuning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0771F3-0300-2050-B410-98EDBD4E41AD}"/>
              </a:ext>
            </a:extLst>
          </p:cNvPr>
          <p:cNvSpPr txBox="1"/>
          <p:nvPr/>
        </p:nvSpPr>
        <p:spPr>
          <a:xfrm>
            <a:off x="1079019" y="1095378"/>
            <a:ext cx="5034238" cy="4062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147" b="1" i="1" u="none" strike="noStrike" kern="1200" cap="none" spc="0" baseline="0">
                <a:solidFill>
                  <a:srgbClr val="1E396E"/>
                </a:solidFill>
                <a:uFillTx/>
                <a:latin typeface="Open Sauce Bold Italics"/>
                <a:ea typeface="Open Sauce Bold Italics"/>
                <a:cs typeface="Open Sauce Bold Italics"/>
              </a:rPr>
              <a:t>Time consuming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8F32CB8-30A3-9158-D2E4-CAAA83778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62082" y="1695992"/>
            <a:ext cx="9042977" cy="902965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9DC791F-EAB8-D84B-DB2E-EF2BEB751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175" y="1615342"/>
            <a:ext cx="9402793" cy="919094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31870519-52CB-7E73-6AAA-C0F1098859EB}"/>
              </a:ext>
            </a:extLst>
          </p:cNvPr>
          <p:cNvSpPr txBox="1"/>
          <p:nvPr/>
        </p:nvSpPr>
        <p:spPr>
          <a:xfrm>
            <a:off x="291501" y="1888958"/>
            <a:ext cx="9307961" cy="2113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365467" marR="0" lvl="1" indent="-182733" algn="l" defTabSz="914400" rtl="0" fontAlgn="auto" hangingPunct="1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92" b="0" i="0" u="none" strike="noStrike" kern="1200" cap="none" spc="0" baseline="0">
                <a:solidFill>
                  <a:srgbClr val="1E396E"/>
                </a:solidFill>
                <a:uFillTx/>
                <a:latin typeface="Open Sauce"/>
                <a:ea typeface="Open Sauce"/>
                <a:cs typeface="Open Sauce"/>
              </a:rPr>
              <a:t>Here we only counting the time for training (exclude the time for data loading etc.)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4DCC79-07AD-977B-F2D4-1DDE5AD5BA2E}"/>
              </a:ext>
            </a:extLst>
          </p:cNvPr>
          <p:cNvSpPr txBox="1"/>
          <p:nvPr/>
        </p:nvSpPr>
        <p:spPr>
          <a:xfrm>
            <a:off x="10742206" y="953600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Yuhan Chen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  <p:pic>
        <p:nvPicPr>
          <p:cNvPr id="9" name="图片 9" descr="Decrease Generic Flat icon | Freepik">
            <a:extLst>
              <a:ext uri="{FF2B5EF4-FFF2-40B4-BE49-F238E27FC236}">
                <a16:creationId xmlns:a16="http://schemas.microsoft.com/office/drawing/2014/main" id="{A0B165F8-7DBE-7441-91B9-5387DE9A6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9131" y="6520074"/>
            <a:ext cx="1470144" cy="1534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文本框 11">
            <a:extLst>
              <a:ext uri="{FF2B5EF4-FFF2-40B4-BE49-F238E27FC236}">
                <a16:creationId xmlns:a16="http://schemas.microsoft.com/office/drawing/2014/main" id="{4189AD85-A193-4C94-559B-9D43C90A8F9B}"/>
              </a:ext>
            </a:extLst>
          </p:cNvPr>
          <p:cNvSpPr txBox="1"/>
          <p:nvPr/>
        </p:nvSpPr>
        <p:spPr>
          <a:xfrm>
            <a:off x="5620350" y="6053702"/>
            <a:ext cx="146999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宋体"/>
                <a:cs typeface="Calibri"/>
              </a:rPr>
              <a:t>78%</a:t>
            </a:r>
            <a:endParaRPr lang="en-US" sz="24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宋体" pitchFamily="2"/>
            </a:endParaRPr>
          </a:p>
        </p:txBody>
      </p:sp>
      <p:pic>
        <p:nvPicPr>
          <p:cNvPr id="11" name="图片 13" descr="Decrease Generic Flat icon | Freepik">
            <a:extLst>
              <a:ext uri="{FF2B5EF4-FFF2-40B4-BE49-F238E27FC236}">
                <a16:creationId xmlns:a16="http://schemas.microsoft.com/office/drawing/2014/main" id="{136C2763-C994-5868-F453-EAE65480B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4527" y="5490240"/>
            <a:ext cx="1470144" cy="1534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文本框 15">
            <a:extLst>
              <a:ext uri="{FF2B5EF4-FFF2-40B4-BE49-F238E27FC236}">
                <a16:creationId xmlns:a16="http://schemas.microsoft.com/office/drawing/2014/main" id="{8CE6B78E-93B0-FB2C-E246-E94CB4DD065B}"/>
              </a:ext>
            </a:extLst>
          </p:cNvPr>
          <p:cNvSpPr txBox="1"/>
          <p:nvPr/>
        </p:nvSpPr>
        <p:spPr>
          <a:xfrm>
            <a:off x="15726280" y="5023878"/>
            <a:ext cx="146999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宋体"/>
                <a:cs typeface="Calibri"/>
              </a:rPr>
              <a:t>68%</a:t>
            </a:r>
            <a:endParaRPr lang="en-US" sz="24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宋体" pitchFamily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5D912DD-17A4-7B66-2F4A-A74C7E04188F}"/>
              </a:ext>
            </a:extLst>
          </p:cNvPr>
          <p:cNvSpPr txBox="1"/>
          <p:nvPr/>
        </p:nvSpPr>
        <p:spPr>
          <a:xfrm>
            <a:off x="1030007" y="3436388"/>
            <a:ext cx="11009787" cy="31617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1328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  <a:ea typeface="Open Sauce Bold"/>
                <a:cs typeface="Open Sauce Bold"/>
              </a:rPr>
              <a:t>Question &amp; Answer Time and LIVE DEMO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455887-F20C-418E-E4E8-FF39B4AA2EB2}"/>
              </a:ext>
            </a:extLst>
          </p:cNvPr>
          <p:cNvSpPr/>
          <p:nvPr/>
        </p:nvSpPr>
        <p:spPr>
          <a:xfrm>
            <a:off x="-1578601" y="-504556"/>
            <a:ext cx="5214603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214608"/>
              <a:gd name="f4" fmla="val 4114800"/>
              <a:gd name="f5" fmla="*/ f0 1 5214608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14608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14608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F22A6DF-4290-FE75-5A5E-6E074C0D4622}"/>
              </a:ext>
            </a:extLst>
          </p:cNvPr>
          <p:cNvSpPr/>
          <p:nvPr/>
        </p:nvSpPr>
        <p:spPr>
          <a:xfrm>
            <a:off x="13995751" y="-1416972"/>
            <a:ext cx="5290444" cy="5438768"/>
          </a:xfrm>
          <a:custGeom>
            <a:avLst/>
            <a:gdLst>
              <a:gd name="f0" fmla="val w"/>
              <a:gd name="f1" fmla="val h"/>
              <a:gd name="f2" fmla="val 0"/>
              <a:gd name="f3" fmla="val 5290443"/>
              <a:gd name="f4" fmla="val 5438773"/>
              <a:gd name="f5" fmla="*/ f0 1 5290443"/>
              <a:gd name="f6" fmla="*/ f1 1 543877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90443"/>
              <a:gd name="f13" fmla="*/ f10 1 543877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90443" h="543877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26706EA-05D0-039D-6320-DB53895D4EBB}"/>
              </a:ext>
            </a:extLst>
          </p:cNvPr>
          <p:cNvSpPr/>
          <p:nvPr/>
        </p:nvSpPr>
        <p:spPr>
          <a:xfrm>
            <a:off x="13468417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0C5DA16-E84A-5750-C098-519CDBE1D63D}"/>
              </a:ext>
            </a:extLst>
          </p:cNvPr>
          <p:cNvSpPr/>
          <p:nvPr/>
        </p:nvSpPr>
        <p:spPr>
          <a:xfrm flipH="1">
            <a:off x="-453414" y="6882414"/>
            <a:ext cx="5272220" cy="3516626"/>
          </a:xfrm>
          <a:custGeom>
            <a:avLst/>
            <a:gdLst>
              <a:gd name="f0" fmla="val w"/>
              <a:gd name="f1" fmla="val h"/>
              <a:gd name="f2" fmla="val 0"/>
              <a:gd name="f3" fmla="val 5272220"/>
              <a:gd name="f4" fmla="val 3516631"/>
              <a:gd name="f5" fmla="*/ f0 1 5272220"/>
              <a:gd name="f6" fmla="*/ f1 1 351663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2220"/>
              <a:gd name="f13" fmla="*/ f10 1 351663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2220" h="3516631">
                <a:moveTo>
                  <a:pt x="f3" y="f2"/>
                </a:moveTo>
                <a:lnTo>
                  <a:pt x="f2" y="f2"/>
                </a:lnTo>
                <a:lnTo>
                  <a:pt x="f2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C276A50-413F-4AF0-CA3C-1CA4A4FD4247}"/>
              </a:ext>
            </a:extLst>
          </p:cNvPr>
          <p:cNvSpPr/>
          <p:nvPr/>
        </p:nvSpPr>
        <p:spPr>
          <a:xfrm>
            <a:off x="4818805" y="8218874"/>
            <a:ext cx="8924736" cy="2442682"/>
          </a:xfrm>
          <a:custGeom>
            <a:avLst/>
            <a:gdLst>
              <a:gd name="f0" fmla="val w"/>
              <a:gd name="f1" fmla="val h"/>
              <a:gd name="f2" fmla="val 0"/>
              <a:gd name="f3" fmla="val 8924733"/>
              <a:gd name="f4" fmla="val 2442684"/>
              <a:gd name="f5" fmla="val 2442685"/>
              <a:gd name="f6" fmla="*/ f0 1 8924733"/>
              <a:gd name="f7" fmla="*/ f1 1 2442684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924733"/>
              <a:gd name="f14" fmla="*/ f11 1 2442684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924733" h="2442684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pic>
        <p:nvPicPr>
          <p:cNvPr id="8" name="Picture 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EC50B80-2586-0E06-B583-B37F41E73F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9319" y="2775615"/>
            <a:ext cx="4482379" cy="44826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1AF0F2-4E6E-46EC-1BBA-FF710C646E5A}"/>
              </a:ext>
            </a:extLst>
          </p:cNvPr>
          <p:cNvSpPr txBox="1"/>
          <p:nvPr/>
        </p:nvSpPr>
        <p:spPr>
          <a:xfrm>
            <a:off x="11432606" y="7474067"/>
            <a:ext cx="6545942" cy="7401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664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E396E"/>
                </a:solidFill>
                <a:uFillTx/>
                <a:latin typeface="Open Sauce Bold"/>
              </a:rPr>
              <a:t>Contribution : Ghanibhuti Gogoi</a:t>
            </a:r>
            <a:endParaRPr lang="en-US" sz="3200" b="1" i="0" u="none" strike="noStrike" kern="1200" cap="none" spc="0" baseline="0">
              <a:solidFill>
                <a:srgbClr val="1E396E"/>
              </a:solidFill>
              <a:uFillTx/>
              <a:latin typeface="Open Sauce Bol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AC448E7-BB85-209A-2932-832F29B7F0F6}"/>
              </a:ext>
            </a:extLst>
          </p:cNvPr>
          <p:cNvSpPr txBox="1"/>
          <p:nvPr/>
        </p:nvSpPr>
        <p:spPr>
          <a:xfrm>
            <a:off x="3402610" y="3061840"/>
            <a:ext cx="11482788" cy="45538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1742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965" b="1" i="1" u="none" strike="noStrike" kern="1200" cap="none" spc="0" baseline="0">
                <a:solidFill>
                  <a:srgbClr val="1E396E"/>
                </a:solidFill>
                <a:uFillTx/>
                <a:latin typeface="Open Sauce Bold Italics"/>
                <a:ea typeface="Open Sauce Bold Italics"/>
                <a:cs typeface="Open Sauce Bold Italics"/>
              </a:rPr>
              <a:t>Thank You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F1862F8-0FE6-EE3B-E439-11322872445F}"/>
              </a:ext>
            </a:extLst>
          </p:cNvPr>
          <p:cNvSpPr/>
          <p:nvPr/>
        </p:nvSpPr>
        <p:spPr>
          <a:xfrm>
            <a:off x="12274558" y="5170575"/>
            <a:ext cx="7711263" cy="5143499"/>
          </a:xfrm>
          <a:custGeom>
            <a:avLst/>
            <a:gdLst>
              <a:gd name="f0" fmla="val w"/>
              <a:gd name="f1" fmla="val h"/>
              <a:gd name="f2" fmla="val 0"/>
              <a:gd name="f3" fmla="val 7711263"/>
              <a:gd name="f4" fmla="val 5143500"/>
              <a:gd name="f5" fmla="*/ f0 1 7711263"/>
              <a:gd name="f6" fmla="*/ f1 1 5143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7711263"/>
              <a:gd name="f13" fmla="*/ f10 1 5143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7711263" h="5143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51DB166-1AA6-BEBB-3888-003A89EA8DB0}"/>
              </a:ext>
            </a:extLst>
          </p:cNvPr>
          <p:cNvSpPr/>
          <p:nvPr/>
        </p:nvSpPr>
        <p:spPr>
          <a:xfrm>
            <a:off x="-2869496" y="-557217"/>
            <a:ext cx="8395261" cy="6120911"/>
          </a:xfrm>
          <a:custGeom>
            <a:avLst/>
            <a:gdLst>
              <a:gd name="f0" fmla="val w"/>
              <a:gd name="f1" fmla="val h"/>
              <a:gd name="f2" fmla="val 0"/>
              <a:gd name="f3" fmla="val 8395266"/>
              <a:gd name="f4" fmla="val 6120912"/>
              <a:gd name="f5" fmla="val 8395265"/>
              <a:gd name="f6" fmla="*/ f0 1 8395266"/>
              <a:gd name="f7" fmla="*/ f1 1 6120912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8395266"/>
              <a:gd name="f14" fmla="*/ f11 1 6120912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8395266" h="6120912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3950290-C203-1B2A-78C8-65AF7D086A9A}"/>
              </a:ext>
            </a:extLst>
          </p:cNvPr>
          <p:cNvSpPr/>
          <p:nvPr/>
        </p:nvSpPr>
        <p:spPr>
          <a:xfrm>
            <a:off x="14429" y="6812691"/>
            <a:ext cx="4714875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4714875"/>
              <a:gd name="f4" fmla="val 4114800"/>
              <a:gd name="f5" fmla="*/ f0 1 4714875"/>
              <a:gd name="f6" fmla="*/ f1 1 4114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714875"/>
              <a:gd name="f13" fmla="*/ f10 1 4114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714875" h="4114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1EF2AFF-AE01-0AFB-FAEA-980817E743C0}"/>
              </a:ext>
            </a:extLst>
          </p:cNvPr>
          <p:cNvSpPr/>
          <p:nvPr/>
        </p:nvSpPr>
        <p:spPr>
          <a:xfrm>
            <a:off x="14241523" y="-819146"/>
            <a:ext cx="5044955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5044955"/>
              <a:gd name="f4" fmla="val 4114800"/>
              <a:gd name="f5" fmla="val 5044954"/>
              <a:gd name="f6" fmla="*/ f0 1 5044955"/>
              <a:gd name="f7" fmla="*/ f1 1 4114800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5044955"/>
              <a:gd name="f14" fmla="*/ f11 1 4114800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5044955" h="4114800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宋体" pitchFamily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宽屏</PresentationFormat>
  <Paragraphs>83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Canva Sans</vt:lpstr>
      <vt:lpstr>Canva Sans Bold</vt:lpstr>
      <vt:lpstr>Open Sauce</vt:lpstr>
      <vt:lpstr>Open Sauce Bold</vt:lpstr>
      <vt:lpstr>Open Sauce Bold Italics</vt:lpstr>
      <vt:lpstr>Open Sauce Italics</vt:lpstr>
      <vt:lpstr>Raleway Bold Italics</vt:lpstr>
      <vt:lpstr>Raleway Italics</vt:lpstr>
      <vt:lpstr>等线</vt:lpstr>
      <vt:lpstr>Arial</vt:lpstr>
      <vt:lpstr>Calibri</vt:lpstr>
      <vt:lpstr>Raleway</vt:lpstr>
      <vt:lpstr>Raleway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Illustrative Engineering Group Project Presentation</dc:title>
  <cp:lastModifiedBy>Yuhan CHEN</cp:lastModifiedBy>
  <cp:revision>58</cp:revision>
  <dcterms:created xsi:type="dcterms:W3CDTF">2006-08-16T00:00:00Z</dcterms:created>
  <dcterms:modified xsi:type="dcterms:W3CDTF">2025-12-03T06:26:32Z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0x010100139F94863279DD46A000AEA53F7FA70E</vt:lpwstr>
  </property>
</Properties>
</file>